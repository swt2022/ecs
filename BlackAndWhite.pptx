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95" r:id="rId3"/>
    <p:sldId id="294" r:id="rId4"/>
    <p:sldId id="290" r:id="rId5"/>
    <p:sldId id="291" r:id="rId6"/>
    <p:sldId id="292" r:id="rId7"/>
    <p:sldId id="29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000"/>
    <a:srgbClr val="FF322D"/>
    <a:srgbClr val="FFBDBD"/>
    <a:srgbClr val="FF807D"/>
    <a:srgbClr val="FF7979"/>
    <a:srgbClr val="FFBE3B"/>
    <a:srgbClr val="FFAE37"/>
    <a:srgbClr val="2E4E92"/>
    <a:srgbClr val="294E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56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E8EB0-8888-4A4E-94F3-14D8E5038AB6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42F7E-C03E-4A75-829B-A53EDB2B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6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5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058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2892"/>
            <a:ext cx="8247370" cy="8818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/>
          <a:lstStyle>
            <a:lvl1pPr>
              <a:buClr>
                <a:srgbClr val="294E92"/>
              </a:buClr>
              <a:defRPr/>
            </a:lvl1pPr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4336729" y="6536377"/>
            <a:ext cx="70083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da-DK" sz="1200" b="0" dirty="0" smtClean="0">
                <a:solidFill>
                  <a:schemeClr val="bg1">
                    <a:lumMod val="50000"/>
                  </a:schemeClr>
                </a:solidFill>
              </a:rPr>
              <a:t>Slide </a:t>
            </a:r>
            <a:fld id="{FABCB2CC-F8B6-45D5-844F-758C0932985B}" type="slidenum">
              <a:rPr lang="en-US" sz="1200" b="0" noProof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da-DK" sz="1200" b="0" dirty="0" err="1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19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6309320"/>
            <a:ext cx="1865487" cy="4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U Passata" panose="020B05030305020308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94E92"/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Black and White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smtClean="0"/>
              <a:t>I4SWT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0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14" y="1557338"/>
            <a:ext cx="7050772" cy="4679950"/>
          </a:xfrm>
        </p:spPr>
      </p:pic>
    </p:spTree>
    <p:extLst>
      <p:ext uri="{BB962C8B-B14F-4D97-AF65-F5344CB8AC3E}">
        <p14:creationId xmlns:p14="http://schemas.microsoft.com/office/powerpoint/2010/main" val="214593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Complete Tests vs. Robust Tests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 smtClean="0"/>
              <a:t>If </a:t>
            </a:r>
            <a:r>
              <a:rPr lang="da-DK" dirty="0" err="1" smtClean="0"/>
              <a:t>we</a:t>
            </a:r>
            <a:r>
              <a:rPr lang="da-DK" dirty="0" smtClean="0"/>
              <a:t> know </a:t>
            </a:r>
            <a:r>
              <a:rPr lang="da-DK" dirty="0" err="1" smtClean="0"/>
              <a:t>what</a:t>
            </a:r>
            <a:r>
              <a:rPr lang="da-DK" dirty="0" smtClean="0"/>
              <a:t> is </a:t>
            </a:r>
            <a:r>
              <a:rPr lang="da-DK" dirty="0" err="1" smtClean="0"/>
              <a:t>inside</a:t>
            </a:r>
            <a:r>
              <a:rPr lang="da-DK" dirty="0" smtClean="0"/>
              <a:t> the unit,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can</a:t>
            </a:r>
            <a:r>
              <a:rPr lang="da-DK" dirty="0" smtClean="0"/>
              <a:t> test it </a:t>
            </a:r>
            <a:r>
              <a:rPr lang="da-DK" dirty="0" err="1" smtClean="0"/>
              <a:t>much</a:t>
            </a:r>
            <a:r>
              <a:rPr lang="da-DK" dirty="0" smtClean="0"/>
              <a:t> </a:t>
            </a:r>
            <a:r>
              <a:rPr lang="da-DK" dirty="0" err="1" smtClean="0"/>
              <a:t>better</a:t>
            </a:r>
            <a:r>
              <a:rPr lang="da-DK" dirty="0" smtClean="0"/>
              <a:t>!</a:t>
            </a:r>
          </a:p>
          <a:p>
            <a:r>
              <a:rPr lang="da-DK" dirty="0" smtClean="0"/>
              <a:t>If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can</a:t>
            </a:r>
            <a:r>
              <a:rPr lang="da-DK" dirty="0" smtClean="0"/>
              <a:t> </a:t>
            </a:r>
            <a:r>
              <a:rPr lang="da-DK" dirty="0" err="1" smtClean="0"/>
              <a:t>reach</a:t>
            </a:r>
            <a:r>
              <a:rPr lang="da-DK" dirty="0" smtClean="0"/>
              <a:t> </a:t>
            </a:r>
            <a:r>
              <a:rPr lang="da-DK" dirty="0" err="1" smtClean="0"/>
              <a:t>inside</a:t>
            </a:r>
            <a:r>
              <a:rPr lang="da-DK" dirty="0" smtClean="0"/>
              <a:t> the unit,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can</a:t>
            </a:r>
            <a:r>
              <a:rPr lang="da-DK" dirty="0" smtClean="0"/>
              <a:t> </a:t>
            </a:r>
            <a:r>
              <a:rPr lang="da-DK" dirty="0" err="1" smtClean="0"/>
              <a:t>make</a:t>
            </a:r>
            <a:r>
              <a:rPr lang="da-DK" dirty="0" smtClean="0"/>
              <a:t> more </a:t>
            </a:r>
            <a:r>
              <a:rPr lang="da-DK" dirty="0" err="1" smtClean="0"/>
              <a:t>complete</a:t>
            </a:r>
            <a:r>
              <a:rPr lang="da-DK" dirty="0" smtClean="0"/>
              <a:t> tests!</a:t>
            </a:r>
          </a:p>
          <a:p>
            <a:endParaRPr lang="da-DK" dirty="0"/>
          </a:p>
          <a:p>
            <a:r>
              <a:rPr lang="da-DK" dirty="0" smtClean="0"/>
              <a:t>VS</a:t>
            </a:r>
          </a:p>
          <a:p>
            <a:endParaRPr lang="da-DK" dirty="0"/>
          </a:p>
          <a:p>
            <a:endParaRPr lang="da-DK" dirty="0" smtClean="0"/>
          </a:p>
          <a:p>
            <a:r>
              <a:rPr lang="da-DK" dirty="0" smtClean="0"/>
              <a:t>If </a:t>
            </a:r>
            <a:r>
              <a:rPr lang="da-DK" dirty="0" err="1" smtClean="0"/>
              <a:t>we</a:t>
            </a:r>
            <a:r>
              <a:rPr lang="da-DK" dirty="0" smtClean="0"/>
              <a:t> base </a:t>
            </a:r>
            <a:r>
              <a:rPr lang="da-DK" dirty="0" err="1" smtClean="0"/>
              <a:t>our</a:t>
            </a:r>
            <a:r>
              <a:rPr lang="da-DK" dirty="0" smtClean="0"/>
              <a:t> tests on </a:t>
            </a:r>
            <a:r>
              <a:rPr lang="da-DK" dirty="0" err="1" smtClean="0"/>
              <a:t>what</a:t>
            </a:r>
            <a:r>
              <a:rPr lang="da-DK" dirty="0" smtClean="0"/>
              <a:t> is in the unit, the tests </a:t>
            </a:r>
            <a:r>
              <a:rPr lang="da-DK" dirty="0" err="1" smtClean="0"/>
              <a:t>will</a:t>
            </a:r>
            <a:r>
              <a:rPr lang="da-DK" dirty="0" smtClean="0"/>
              <a:t> break </a:t>
            </a:r>
            <a:r>
              <a:rPr lang="da-DK" dirty="0" err="1" smtClean="0"/>
              <a:t>when</a:t>
            </a:r>
            <a:r>
              <a:rPr lang="da-DK" dirty="0" smtClean="0"/>
              <a:t> </a:t>
            </a:r>
            <a:r>
              <a:rPr lang="da-DK" dirty="0" err="1" smtClean="0"/>
              <a:t>our</a:t>
            </a:r>
            <a:r>
              <a:rPr lang="da-DK" dirty="0" smtClean="0"/>
              <a:t> </a:t>
            </a:r>
            <a:r>
              <a:rPr lang="da-DK" dirty="0" err="1" smtClean="0"/>
              <a:t>code</a:t>
            </a:r>
            <a:r>
              <a:rPr lang="da-DK" dirty="0" smtClean="0"/>
              <a:t> is </a:t>
            </a:r>
            <a:r>
              <a:rPr lang="da-DK" dirty="0" err="1" smtClean="0"/>
              <a:t>changing</a:t>
            </a:r>
            <a:r>
              <a:rPr lang="da-DK" dirty="0" smtClean="0"/>
              <a:t>/</a:t>
            </a:r>
            <a:r>
              <a:rPr lang="da-DK" dirty="0" err="1" smtClean="0"/>
              <a:t>maintained</a:t>
            </a:r>
            <a:r>
              <a:rPr lang="da-DK" dirty="0" smtClean="0"/>
              <a:t>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5467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Black Box Test vs. White Box Test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Black </a:t>
            </a:r>
            <a:r>
              <a:rPr lang="da-DK" dirty="0" err="1" smtClean="0"/>
              <a:t>box</a:t>
            </a:r>
            <a:r>
              <a:rPr lang="da-DK" dirty="0" smtClean="0"/>
              <a:t> tests </a:t>
            </a:r>
            <a:r>
              <a:rPr lang="da-DK" dirty="0" err="1" smtClean="0"/>
              <a:t>are</a:t>
            </a:r>
            <a:r>
              <a:rPr lang="da-DK" dirty="0" smtClean="0"/>
              <a:t> </a:t>
            </a:r>
            <a:r>
              <a:rPr lang="da-DK" dirty="0" err="1" smtClean="0"/>
              <a:t>good</a:t>
            </a:r>
            <a:r>
              <a:rPr lang="da-DK" dirty="0" smtClean="0"/>
              <a:t>!</a:t>
            </a:r>
          </a:p>
          <a:p>
            <a:r>
              <a:rPr lang="da-DK" dirty="0" smtClean="0"/>
              <a:t>White </a:t>
            </a:r>
            <a:r>
              <a:rPr lang="da-DK" dirty="0" err="1" smtClean="0"/>
              <a:t>box</a:t>
            </a:r>
            <a:r>
              <a:rPr lang="da-DK" dirty="0" smtClean="0"/>
              <a:t> tests </a:t>
            </a:r>
            <a:r>
              <a:rPr lang="da-DK" dirty="0" err="1" smtClean="0"/>
              <a:t>are</a:t>
            </a:r>
            <a:r>
              <a:rPr lang="da-DK" dirty="0" smtClean="0"/>
              <a:t> bad!</a:t>
            </a:r>
          </a:p>
          <a:p>
            <a:endParaRPr lang="da-DK" dirty="0"/>
          </a:p>
          <a:p>
            <a:endParaRPr lang="da-DK" dirty="0" smtClean="0"/>
          </a:p>
          <a:p>
            <a:r>
              <a:rPr lang="da-DK" dirty="0" err="1" smtClean="0"/>
              <a:t>Nothing</a:t>
            </a:r>
            <a:r>
              <a:rPr lang="da-DK" dirty="0" smtClean="0"/>
              <a:t> is just </a:t>
            </a:r>
            <a:r>
              <a:rPr lang="da-DK" dirty="0" err="1" smtClean="0"/>
              <a:t>black</a:t>
            </a:r>
            <a:r>
              <a:rPr lang="da-DK" dirty="0" smtClean="0"/>
              <a:t> and </a:t>
            </a:r>
            <a:r>
              <a:rPr lang="da-DK" dirty="0" err="1" smtClean="0"/>
              <a:t>white</a:t>
            </a:r>
            <a:r>
              <a:rPr lang="da-DK" dirty="0" smtClean="0"/>
              <a:t>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4059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36328">
            <a:off x="3501846" y="1695676"/>
            <a:ext cx="990997" cy="99099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1402">
            <a:off x="4724876" y="5122013"/>
            <a:ext cx="990997" cy="99099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36328">
            <a:off x="2406054" y="1655360"/>
            <a:ext cx="990997" cy="9909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976" y="255996"/>
            <a:ext cx="8247370" cy="881852"/>
          </a:xfrm>
        </p:spPr>
        <p:txBody>
          <a:bodyPr/>
          <a:lstStyle/>
          <a:p>
            <a:r>
              <a:rPr lang="da-DK" dirty="0" smtClean="0"/>
              <a:t>Black Box Test</a:t>
            </a:r>
            <a:endParaRPr lang="da-DK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915816" y="1268760"/>
            <a:ext cx="576064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591229" y="1268760"/>
            <a:ext cx="526865" cy="122413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067944" y="1268760"/>
            <a:ext cx="549674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061936"/>
            <a:ext cx="746883" cy="7468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55776" y="2492896"/>
            <a:ext cx="3456384" cy="23762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Unit Under Test</a:t>
            </a:r>
            <a:endParaRPr lang="da-DK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148898" y="4869160"/>
            <a:ext cx="24980" cy="1355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34752" y="4875713"/>
            <a:ext cx="24980" cy="1355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534752" y="4875713"/>
            <a:ext cx="421176" cy="134849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08152" y="5225088"/>
            <a:ext cx="787528" cy="6776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19957" y="5266600"/>
            <a:ext cx="736597" cy="6338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91680" y="1412776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smtClean="0"/>
              <a:t>Act</a:t>
            </a:r>
            <a:endParaRPr lang="da-DK" dirty="0"/>
          </a:p>
        </p:txBody>
      </p:sp>
      <p:sp>
        <p:nvSpPr>
          <p:cNvPr id="32" name="TextBox 31"/>
          <p:cNvSpPr txBox="1"/>
          <p:nvPr/>
        </p:nvSpPr>
        <p:spPr>
          <a:xfrm>
            <a:off x="4067944" y="1090646"/>
            <a:ext cx="10327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Interact</a:t>
            </a:r>
            <a:endParaRPr lang="da-DK" dirty="0"/>
          </a:p>
        </p:txBody>
      </p:sp>
      <p:sp>
        <p:nvSpPr>
          <p:cNvPr id="33" name="TextBox 32"/>
          <p:cNvSpPr txBox="1"/>
          <p:nvPr/>
        </p:nvSpPr>
        <p:spPr>
          <a:xfrm>
            <a:off x="5740595" y="5464126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React</a:t>
            </a:r>
            <a:endParaRPr lang="da-DK" dirty="0"/>
          </a:p>
        </p:txBody>
      </p:sp>
      <p:sp>
        <p:nvSpPr>
          <p:cNvPr id="34" name="TextBox 33"/>
          <p:cNvSpPr txBox="1"/>
          <p:nvPr/>
        </p:nvSpPr>
        <p:spPr>
          <a:xfrm>
            <a:off x="6346374" y="1260174"/>
            <a:ext cx="11059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Observe</a:t>
            </a:r>
            <a:endParaRPr lang="da-DK" dirty="0"/>
          </a:p>
        </p:txBody>
      </p:sp>
      <p:sp>
        <p:nvSpPr>
          <p:cNvPr id="36" name="TextBox 35"/>
          <p:cNvSpPr txBox="1"/>
          <p:nvPr/>
        </p:nvSpPr>
        <p:spPr>
          <a:xfrm>
            <a:off x="1070590" y="5362018"/>
            <a:ext cx="11059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Observe</a:t>
            </a:r>
            <a:endParaRPr lang="da-DK" dirty="0"/>
          </a:p>
        </p:txBody>
      </p:sp>
      <p:sp>
        <p:nvSpPr>
          <p:cNvPr id="3" name="TextBox 2"/>
          <p:cNvSpPr txBox="1"/>
          <p:nvPr/>
        </p:nvSpPr>
        <p:spPr>
          <a:xfrm>
            <a:off x="6286657" y="2811448"/>
            <a:ext cx="2605823" cy="120032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da-DK" dirty="0" smtClean="0"/>
              <a:t>As long as the interface to the UUT and the interfaces it </a:t>
            </a:r>
            <a:r>
              <a:rPr lang="da-DK" dirty="0" err="1" smtClean="0"/>
              <a:t>uses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 the same – the tests </a:t>
            </a:r>
            <a:r>
              <a:rPr lang="da-DK" dirty="0" err="1" smtClean="0"/>
              <a:t>are</a:t>
            </a:r>
            <a:r>
              <a:rPr lang="da-DK" dirty="0" smtClean="0"/>
              <a:t> </a:t>
            </a:r>
            <a:r>
              <a:rPr lang="da-DK" dirty="0" err="1" smtClean="0"/>
              <a:t>safe</a:t>
            </a:r>
            <a:r>
              <a:rPr lang="da-DK" dirty="0" smtClean="0"/>
              <a:t>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2303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39752" y="2636911"/>
            <a:ext cx="576064" cy="57606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39752" y="3781471"/>
            <a:ext cx="576064" cy="5760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36328">
            <a:off x="3501846" y="1695676"/>
            <a:ext cx="990997" cy="99099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1402">
            <a:off x="4724876" y="5122013"/>
            <a:ext cx="990997" cy="99099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36328">
            <a:off x="2406054" y="1655360"/>
            <a:ext cx="990997" cy="9909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976" y="255996"/>
            <a:ext cx="8247370" cy="881852"/>
          </a:xfrm>
        </p:spPr>
        <p:txBody>
          <a:bodyPr/>
          <a:lstStyle/>
          <a:p>
            <a:r>
              <a:rPr lang="da-DK" dirty="0" smtClean="0"/>
              <a:t>White Box Test</a:t>
            </a:r>
            <a:endParaRPr lang="da-DK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915816" y="1268760"/>
            <a:ext cx="576064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591229" y="1268760"/>
            <a:ext cx="526865" cy="122413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067944" y="1268760"/>
            <a:ext cx="549674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061936"/>
            <a:ext cx="746883" cy="746883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3148898" y="4869160"/>
            <a:ext cx="24980" cy="1355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34752" y="4875713"/>
            <a:ext cx="24980" cy="1355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534752" y="4875713"/>
            <a:ext cx="421176" cy="134849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308152" y="5225088"/>
            <a:ext cx="787528" cy="6776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19957" y="5266600"/>
            <a:ext cx="736597" cy="63382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223" y="3597526"/>
            <a:ext cx="422595" cy="4225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320" y="2851764"/>
            <a:ext cx="422595" cy="422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5776" y="2492896"/>
            <a:ext cx="3456384" cy="2241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dirty="0" err="1" smtClean="0">
                <a:latin typeface="Consolas" panose="020B0609020204030204" pitchFamily="49" charset="0"/>
              </a:rPr>
              <a:t>class</a:t>
            </a:r>
            <a:r>
              <a:rPr lang="da-DK" sz="900" dirty="0" smtClean="0">
                <a:latin typeface="Consolas" panose="020B0609020204030204" pitchFamily="49" charset="0"/>
              </a:rPr>
              <a:t> xxx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da-DK" sz="900" dirty="0">
                <a:latin typeface="Consolas" panose="020B0609020204030204" pitchFamily="49" charset="0"/>
              </a:rPr>
              <a:t> </a:t>
            </a:r>
            <a:r>
              <a:rPr lang="da-DK" sz="900" dirty="0" smtClean="0">
                <a:latin typeface="Consolas" panose="020B0609020204030204" pitchFamily="49" charset="0"/>
              </a:rPr>
              <a:t>   private double </a:t>
            </a:r>
            <a:r>
              <a:rPr lang="da-DK" sz="900" dirty="0" err="1" smtClean="0">
                <a:latin typeface="Consolas" panose="020B0609020204030204" pitchFamily="49" charset="0"/>
              </a:rPr>
              <a:t>weight</a:t>
            </a:r>
            <a:r>
              <a:rPr lang="da-DK" sz="900" dirty="0" smtClean="0">
                <a:latin typeface="Consolas" panose="020B0609020204030204" pitchFamily="49" charset="0"/>
              </a:rPr>
              <a:t>;</a:t>
            </a:r>
            <a:endParaRPr lang="da-DK" sz="900" dirty="0">
              <a:latin typeface="Consolas" panose="020B0609020204030204" pitchFamily="49" charset="0"/>
            </a:endParaRPr>
          </a:p>
          <a:p>
            <a:r>
              <a:rPr lang="da-DK" sz="900" dirty="0" smtClean="0">
                <a:latin typeface="Consolas" panose="020B0609020204030204" pitchFamily="49" charset="0"/>
              </a:rPr>
              <a:t>    private </a:t>
            </a:r>
            <a:r>
              <a:rPr lang="da-DK" sz="900" dirty="0" err="1" smtClean="0">
                <a:latin typeface="Consolas" panose="020B0609020204030204" pitchFamily="49" charset="0"/>
              </a:rPr>
              <a:t>int</a:t>
            </a:r>
            <a:r>
              <a:rPr lang="da-DK" sz="900" dirty="0" smtClean="0">
                <a:latin typeface="Consolas" panose="020B0609020204030204" pitchFamily="49" charset="0"/>
              </a:rPr>
              <a:t> </a:t>
            </a:r>
            <a:r>
              <a:rPr lang="da-DK" sz="900" dirty="0" err="1" smtClean="0">
                <a:latin typeface="Consolas" panose="020B0609020204030204" pitchFamily="49" charset="0"/>
              </a:rPr>
              <a:t>state</a:t>
            </a:r>
            <a:r>
              <a:rPr lang="da-DK" sz="900" dirty="0" smtClean="0">
                <a:latin typeface="Consolas" panose="020B0609020204030204" pitchFamily="49" charset="0"/>
              </a:rPr>
              <a:t>;</a:t>
            </a:r>
          </a:p>
          <a:p>
            <a:endParaRPr lang="da-DK" sz="900" dirty="0">
              <a:latin typeface="Consolas" panose="020B0609020204030204" pitchFamily="49" charset="0"/>
            </a:endParaRPr>
          </a:p>
          <a:p>
            <a:r>
              <a:rPr lang="da-DK" sz="900" dirty="0" smtClean="0">
                <a:latin typeface="Consolas" panose="020B0609020204030204" pitchFamily="49" charset="0"/>
              </a:rPr>
              <a:t>    public </a:t>
            </a:r>
            <a:r>
              <a:rPr lang="da-DK" sz="900" dirty="0" err="1" smtClean="0">
                <a:latin typeface="Consolas" panose="020B0609020204030204" pitchFamily="49" charset="0"/>
              </a:rPr>
              <a:t>void</a:t>
            </a:r>
            <a:r>
              <a:rPr lang="da-DK" sz="900" dirty="0" smtClean="0">
                <a:latin typeface="Consolas" panose="020B0609020204030204" pitchFamily="49" charset="0"/>
              </a:rPr>
              <a:t> method1() {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    …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    }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    public </a:t>
            </a:r>
            <a:r>
              <a:rPr lang="da-DK" sz="900" dirty="0" err="1" smtClean="0">
                <a:latin typeface="Consolas" panose="020B0609020204030204" pitchFamily="49" charset="0"/>
              </a:rPr>
              <a:t>int</a:t>
            </a:r>
            <a:r>
              <a:rPr lang="da-DK" sz="900" dirty="0" smtClean="0">
                <a:latin typeface="Consolas" panose="020B0609020204030204" pitchFamily="49" charset="0"/>
              </a:rPr>
              <a:t> method2() {</a:t>
            </a:r>
          </a:p>
          <a:p>
            <a:r>
              <a:rPr lang="da-DK" sz="900" dirty="0">
                <a:latin typeface="Consolas" panose="020B0609020204030204" pitchFamily="49" charset="0"/>
              </a:rPr>
              <a:t> </a:t>
            </a:r>
            <a:r>
              <a:rPr lang="da-DK" sz="900" dirty="0" smtClean="0">
                <a:latin typeface="Consolas" panose="020B0609020204030204" pitchFamily="49" charset="0"/>
              </a:rPr>
              <a:t>   ….</a:t>
            </a:r>
          </a:p>
          <a:p>
            <a:r>
              <a:rPr lang="da-DK" sz="900" dirty="0">
                <a:latin typeface="Consolas" panose="020B0609020204030204" pitchFamily="49" charset="0"/>
              </a:rPr>
              <a:t> </a:t>
            </a:r>
            <a:r>
              <a:rPr lang="da-DK" sz="900" dirty="0" smtClean="0">
                <a:latin typeface="Consolas" panose="020B0609020204030204" pitchFamily="49" charset="0"/>
              </a:rPr>
              <a:t>   }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    private double method3(</a:t>
            </a:r>
            <a:r>
              <a:rPr lang="da-DK" sz="900" dirty="0" err="1" smtClean="0">
                <a:latin typeface="Consolas" panose="020B0609020204030204" pitchFamily="49" charset="0"/>
              </a:rPr>
              <a:t>int</a:t>
            </a:r>
            <a:r>
              <a:rPr lang="da-DK" sz="900" dirty="0" smtClean="0">
                <a:latin typeface="Consolas" panose="020B0609020204030204" pitchFamily="49" charset="0"/>
              </a:rPr>
              <a:t> …) {</a:t>
            </a:r>
          </a:p>
          <a:p>
            <a:r>
              <a:rPr lang="da-DK" sz="900" dirty="0">
                <a:latin typeface="Consolas" panose="020B0609020204030204" pitchFamily="49" charset="0"/>
              </a:rPr>
              <a:t> </a:t>
            </a:r>
            <a:r>
              <a:rPr lang="da-DK" sz="900" dirty="0" smtClean="0">
                <a:latin typeface="Consolas" panose="020B0609020204030204" pitchFamily="49" charset="0"/>
              </a:rPr>
              <a:t>   …</a:t>
            </a:r>
          </a:p>
          <a:p>
            <a:r>
              <a:rPr lang="da-DK" sz="900" dirty="0" smtClean="0">
                <a:latin typeface="Consolas" panose="020B0609020204030204" pitchFamily="49" charset="0"/>
              </a:rPr>
              <a:t>    }</a:t>
            </a:r>
          </a:p>
          <a:p>
            <a:r>
              <a:rPr lang="da-DK" sz="900" dirty="0">
                <a:latin typeface="Consolas" panose="020B0609020204030204" pitchFamily="49" charset="0"/>
              </a:rPr>
              <a:t>}</a:t>
            </a:r>
            <a:endParaRPr lang="da-DK" sz="9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5776" y="2492896"/>
            <a:ext cx="3456384" cy="2376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a-DK" dirty="0" smtClean="0">
                <a:solidFill>
                  <a:schemeClr val="tx1"/>
                </a:solidFill>
              </a:rPr>
              <a:t>Unit Under Test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48055" y="3485657"/>
            <a:ext cx="1662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Analyze</a:t>
            </a:r>
            <a:r>
              <a:rPr lang="da-DK" dirty="0" smtClean="0"/>
              <a:t> (</a:t>
            </a:r>
            <a:r>
              <a:rPr lang="da-DK" dirty="0" err="1" smtClean="0"/>
              <a:t>static</a:t>
            </a:r>
            <a:r>
              <a:rPr lang="da-DK" dirty="0" smtClean="0"/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4617" y="2801580"/>
            <a:ext cx="1426759" cy="369332"/>
          </a:xfrm>
          <a:prstGeom prst="rect">
            <a:avLst/>
          </a:prstGeom>
          <a:solidFill>
            <a:srgbClr val="FFBDB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smtClean="0"/>
              <a:t>Spy!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4" y="2827618"/>
            <a:ext cx="1426759" cy="369332"/>
          </a:xfrm>
          <a:prstGeom prst="rect">
            <a:avLst/>
          </a:prstGeom>
          <a:solidFill>
            <a:srgbClr val="F6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 smtClean="0"/>
              <a:t>Manipulate</a:t>
            </a:r>
            <a:r>
              <a:rPr lang="da-DK" dirty="0" smtClean="0"/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0981" y="3835455"/>
            <a:ext cx="1426759" cy="369332"/>
          </a:xfrm>
          <a:prstGeom prst="rect">
            <a:avLst/>
          </a:prstGeom>
          <a:solidFill>
            <a:srgbClr val="FF322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smtClean="0"/>
              <a:t>Force!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80000" y="2880000"/>
            <a:ext cx="47551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879999" y="3027640"/>
            <a:ext cx="47551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879999" y="4131988"/>
            <a:ext cx="47551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44520" y="4009429"/>
            <a:ext cx="16662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smtClean="0"/>
              <a:t>Trace (</a:t>
            </a:r>
            <a:r>
              <a:rPr lang="da-DK" dirty="0" err="1" smtClean="0"/>
              <a:t>dynamic</a:t>
            </a:r>
            <a:r>
              <a:rPr lang="da-DK" dirty="0" smtClean="0"/>
              <a:t>)</a:t>
            </a:r>
            <a:endParaRPr lang="da-DK" dirty="0"/>
          </a:p>
        </p:txBody>
      </p:sp>
      <p:pic>
        <p:nvPicPr>
          <p:cNvPr id="9" name="Picture 8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372" y="3234937"/>
            <a:ext cx="438264" cy="404664"/>
          </a:xfrm>
          <a:prstGeom prst="rect">
            <a:avLst/>
          </a:prstGeom>
        </p:spPr>
      </p:pic>
      <p:pic>
        <p:nvPicPr>
          <p:cNvPr id="36" name="Picture 35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24" y="3234937"/>
            <a:ext cx="438264" cy="404664"/>
          </a:xfrm>
          <a:prstGeom prst="rect">
            <a:avLst/>
          </a:prstGeom>
        </p:spPr>
      </p:pic>
      <p:pic>
        <p:nvPicPr>
          <p:cNvPr id="37" name="Picture 36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76" y="4268079"/>
            <a:ext cx="438264" cy="404664"/>
          </a:xfrm>
          <a:prstGeom prst="rect">
            <a:avLst/>
          </a:prstGeom>
        </p:spPr>
      </p:pic>
      <p:pic>
        <p:nvPicPr>
          <p:cNvPr id="38" name="Picture 37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03" y="4268079"/>
            <a:ext cx="438264" cy="404664"/>
          </a:xfrm>
          <a:prstGeom prst="rect">
            <a:avLst/>
          </a:prstGeom>
        </p:spPr>
      </p:pic>
      <p:pic>
        <p:nvPicPr>
          <p:cNvPr id="39" name="Picture 38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386" y="2759524"/>
            <a:ext cx="438264" cy="404664"/>
          </a:xfrm>
          <a:prstGeom prst="rect">
            <a:avLst/>
          </a:prstGeom>
        </p:spPr>
      </p:pic>
      <p:pic>
        <p:nvPicPr>
          <p:cNvPr id="40" name="Picture 39" descr="File:Warning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1" y="3233525"/>
            <a:ext cx="438264" cy="40466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55008" y="1356501"/>
            <a:ext cx="2605823" cy="120032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da-DK" dirty="0" smtClean="0"/>
              <a:t>The more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depend</a:t>
            </a:r>
            <a:r>
              <a:rPr lang="da-DK" dirty="0" smtClean="0"/>
              <a:t> on the </a:t>
            </a:r>
            <a:r>
              <a:rPr lang="da-DK" dirty="0" err="1" smtClean="0"/>
              <a:t>internal</a:t>
            </a:r>
            <a:r>
              <a:rPr lang="da-DK" dirty="0" smtClean="0"/>
              <a:t> </a:t>
            </a:r>
            <a:r>
              <a:rPr lang="da-DK" dirty="0" err="1" smtClean="0"/>
              <a:t>structure</a:t>
            </a:r>
            <a:r>
              <a:rPr lang="da-DK" dirty="0" smtClean="0"/>
              <a:t> of the UUT – the more the tests </a:t>
            </a:r>
            <a:r>
              <a:rPr lang="da-DK" dirty="0" err="1" smtClean="0"/>
              <a:t>will</a:t>
            </a:r>
            <a:r>
              <a:rPr lang="da-DK" dirty="0" smtClean="0"/>
              <a:t> </a:t>
            </a:r>
            <a:r>
              <a:rPr lang="da-DK" dirty="0" err="1" smtClean="0"/>
              <a:t>be</a:t>
            </a:r>
            <a:r>
              <a:rPr lang="da-DK" dirty="0" smtClean="0"/>
              <a:t> in </a:t>
            </a:r>
            <a:r>
              <a:rPr lang="da-DK" dirty="0" err="1" smtClean="0"/>
              <a:t>danger</a:t>
            </a:r>
            <a:r>
              <a:rPr lang="da-DK" dirty="0" smtClean="0"/>
              <a:t>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1283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1" grpId="0" animBg="1"/>
      <p:bldP spid="32" grpId="0" animBg="1"/>
      <p:bldP spid="35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Design vs. test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To do proper unit tests</a:t>
            </a:r>
          </a:p>
          <a:p>
            <a:pPr lvl="1"/>
            <a:r>
              <a:rPr lang="da-DK" dirty="0" smtClean="0"/>
              <a:t>As "Black </a:t>
            </a:r>
            <a:r>
              <a:rPr lang="da-DK" dirty="0" err="1" smtClean="0"/>
              <a:t>Boxy</a:t>
            </a:r>
            <a:r>
              <a:rPr lang="da-DK" dirty="0" smtClean="0"/>
              <a:t>" as </a:t>
            </a:r>
            <a:r>
              <a:rPr lang="da-DK" dirty="0" err="1" smtClean="0"/>
              <a:t>possible</a:t>
            </a:r>
            <a:endParaRPr lang="da-DK" dirty="0" smtClean="0"/>
          </a:p>
          <a:p>
            <a:pPr lvl="1"/>
            <a:r>
              <a:rPr lang="da-DK" dirty="0" smtClean="0"/>
              <a:t>As independent from </a:t>
            </a:r>
            <a:r>
              <a:rPr lang="da-DK" dirty="0" err="1" smtClean="0"/>
              <a:t>other</a:t>
            </a:r>
            <a:r>
              <a:rPr lang="da-DK" dirty="0" smtClean="0"/>
              <a:t> programmers/units</a:t>
            </a:r>
          </a:p>
          <a:p>
            <a:endParaRPr lang="da-DK" dirty="0"/>
          </a:p>
          <a:p>
            <a:r>
              <a:rPr lang="da-DK" dirty="0" err="1" smtClean="0"/>
              <a:t>What</a:t>
            </a:r>
            <a:r>
              <a:rPr lang="da-DK" dirty="0" smtClean="0"/>
              <a:t> is </a:t>
            </a:r>
            <a:r>
              <a:rPr lang="da-DK" dirty="0" err="1" smtClean="0"/>
              <a:t>then</a:t>
            </a:r>
            <a:r>
              <a:rPr lang="da-DK" dirty="0" smtClean="0"/>
              <a:t> </a:t>
            </a:r>
            <a:r>
              <a:rPr lang="da-DK" dirty="0" err="1" smtClean="0"/>
              <a:t>needed</a:t>
            </a:r>
            <a:r>
              <a:rPr lang="da-DK" dirty="0" smtClean="0"/>
              <a:t> from </a:t>
            </a:r>
            <a:r>
              <a:rPr lang="da-DK" dirty="0" err="1" smtClean="0"/>
              <a:t>your</a:t>
            </a:r>
            <a:r>
              <a:rPr lang="da-DK" dirty="0" smtClean="0"/>
              <a:t> design?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391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4098" name="Picture 2" descr="http://2.bp.blogspot.com/-qauRD8CM-eI/TVfj5BBwMrI/AAAAAAAAAFU/ufo1QWe3KaY/s1600/ques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24544"/>
            <a:ext cx="6827912" cy="512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2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</TotalTime>
  <Words>242</Words>
  <Application>Microsoft Office PowerPoint</Application>
  <PresentationFormat>On-screen Show (4:3)</PresentationFormat>
  <Paragraphs>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AU Passata</vt:lpstr>
      <vt:lpstr>Calibri</vt:lpstr>
      <vt:lpstr>Consolas</vt:lpstr>
      <vt:lpstr>Office Theme</vt:lpstr>
      <vt:lpstr>Black and White</vt:lpstr>
      <vt:lpstr>PowerPoint Presentation</vt:lpstr>
      <vt:lpstr>Complete Tests vs. Robust Tests</vt:lpstr>
      <vt:lpstr>Black Box Test vs. White Box Test</vt:lpstr>
      <vt:lpstr>Black Box Test</vt:lpstr>
      <vt:lpstr>White Box Test</vt:lpstr>
      <vt:lpstr>Design vs. test</vt:lpstr>
      <vt:lpstr>Questions?</vt:lpstr>
    </vt:vector>
  </TitlesOfParts>
  <Company>IHA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Steen Fredborg Krøyer</dc:creator>
  <cp:lastModifiedBy>Frank Bodholdt Jakobsen</cp:lastModifiedBy>
  <cp:revision>123</cp:revision>
  <dcterms:created xsi:type="dcterms:W3CDTF">2011-04-02T15:06:22Z</dcterms:created>
  <dcterms:modified xsi:type="dcterms:W3CDTF">2021-02-08T14:23:50Z</dcterms:modified>
</cp:coreProperties>
</file>