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2"/>
    <p:sldId id="318" r:id="rId3"/>
    <p:sldId id="325" r:id="rId4"/>
    <p:sldId id="270" r:id="rId5"/>
    <p:sldId id="271" r:id="rId6"/>
    <p:sldId id="273" r:id="rId7"/>
    <p:sldId id="279" r:id="rId8"/>
    <p:sldId id="281" r:id="rId9"/>
    <p:sldId id="311" r:id="rId10"/>
    <p:sldId id="312" r:id="rId11"/>
    <p:sldId id="319" r:id="rId12"/>
    <p:sldId id="314" r:id="rId13"/>
    <p:sldId id="288" r:id="rId14"/>
    <p:sldId id="315" r:id="rId15"/>
    <p:sldId id="317" r:id="rId16"/>
    <p:sldId id="309" r:id="rId17"/>
    <p:sldId id="320" r:id="rId18"/>
    <p:sldId id="321" r:id="rId19"/>
    <p:sldId id="322" r:id="rId20"/>
    <p:sldId id="308" r:id="rId21"/>
    <p:sldId id="323" r:id="rId22"/>
    <p:sldId id="324" r:id="rId23"/>
    <p:sldId id="264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F558D5-6165-41F3-A547-CB68814CF99B}">
          <p14:sldIdLst>
            <p14:sldId id="256"/>
            <p14:sldId id="318"/>
            <p14:sldId id="325"/>
            <p14:sldId id="270"/>
            <p14:sldId id="271"/>
            <p14:sldId id="273"/>
            <p14:sldId id="279"/>
            <p14:sldId id="281"/>
            <p14:sldId id="311"/>
            <p14:sldId id="312"/>
            <p14:sldId id="319"/>
            <p14:sldId id="314"/>
          </p14:sldIdLst>
        </p14:section>
        <p14:section name="Untitled Section" id="{0CB76341-A0BD-42A1-93B0-05E2F20AD2D4}">
          <p14:sldIdLst>
            <p14:sldId id="288"/>
            <p14:sldId id="315"/>
            <p14:sldId id="317"/>
            <p14:sldId id="309"/>
            <p14:sldId id="320"/>
            <p14:sldId id="321"/>
            <p14:sldId id="322"/>
            <p14:sldId id="308"/>
            <p14:sldId id="323"/>
            <p14:sldId id="324"/>
            <p14:sldId id="2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E3B"/>
    <a:srgbClr val="FFAE37"/>
    <a:srgbClr val="2E4E92"/>
    <a:srgbClr val="294E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78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6E8EB0-8888-4A4E-94F3-14D8E5038AB6}" type="datetimeFigureOut">
              <a:rPr lang="en-US" smtClean="0"/>
              <a:t>9/11/2021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42F7E-C03E-4A75-829B-A53EDB2B71A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5502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42315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diasbille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Pladsholder til dias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02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160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0856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79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8127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602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602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799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835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7995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7550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09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1309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360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212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B42F7E-C03E-4A75-829B-A53EDB2B71A1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507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620589"/>
      </p:ext>
    </p:extLst>
  </p:cSld>
  <p:clrMapOvr>
    <a:masterClrMapping/>
  </p:clrMapOvr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8229600" cy="4680520"/>
          </a:xfrm>
          <a:prstGeom prst="rect">
            <a:avLst/>
          </a:prstGeom>
        </p:spPr>
        <p:txBody>
          <a:bodyPr/>
          <a:lstStyle>
            <a:lvl1pPr>
              <a:buClr>
                <a:srgbClr val="294E92"/>
              </a:buClr>
              <a:defRPr/>
            </a:lvl1pPr>
            <a:lvl5pPr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extBox 6"/>
          <p:cNvSpPr txBox="1"/>
          <p:nvPr userDrawn="1"/>
        </p:nvSpPr>
        <p:spPr>
          <a:xfrm>
            <a:off x="4043674" y="649810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noProof="0" dirty="0" smtClean="0">
                <a:solidFill>
                  <a:schemeClr val="tx1"/>
                </a:solidFill>
              </a:rPr>
              <a:t>-</a:t>
            </a:r>
            <a:fld id="{FABCB2CC-F8B6-45D5-844F-758C0932985B}" type="slidenum">
              <a:rPr lang="en-US" sz="1200" b="0" noProof="0" smtClean="0">
                <a:solidFill>
                  <a:schemeClr val="tx1"/>
                </a:solidFill>
              </a:rPr>
              <a:pPr algn="ctr"/>
              <a:t>‹#›</a:t>
            </a:fld>
            <a:r>
              <a:rPr lang="en-US" sz="1200" b="0" noProof="0" dirty="0" smtClean="0">
                <a:solidFill>
                  <a:schemeClr val="tx1"/>
                </a:solidFill>
              </a:rPr>
              <a:t>- </a:t>
            </a:r>
            <a:endParaRPr lang="en-US" sz="1200" b="0" noProof="0" dirty="0">
              <a:solidFill>
                <a:schemeClr val="tx1"/>
              </a:solidFill>
            </a:endParaRPr>
          </a:p>
        </p:txBody>
      </p:sp>
      <p:cxnSp>
        <p:nvCxnSpPr>
          <p:cNvPr id="8" name="Straight Connector 7"/>
          <p:cNvCxnSpPr/>
          <p:nvPr userDrawn="1"/>
        </p:nvCxnSpPr>
        <p:spPr>
          <a:xfrm>
            <a:off x="467544" y="1340768"/>
            <a:ext cx="8208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19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4043674" y="6498103"/>
            <a:ext cx="5040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0" noProof="0" dirty="0" smtClean="0">
                <a:solidFill>
                  <a:schemeClr val="tx1"/>
                </a:solidFill>
              </a:rPr>
              <a:t>-</a:t>
            </a:r>
            <a:fld id="{FABCB2CC-F8B6-45D5-844F-758C0932985B}" type="slidenum">
              <a:rPr lang="en-US" sz="1200" b="0" noProof="0" smtClean="0">
                <a:solidFill>
                  <a:schemeClr val="tx1"/>
                </a:solidFill>
              </a:rPr>
              <a:pPr algn="ctr"/>
              <a:t>‹#›</a:t>
            </a:fld>
            <a:r>
              <a:rPr lang="en-US" sz="1200" b="0" noProof="0" dirty="0" smtClean="0">
                <a:solidFill>
                  <a:schemeClr val="tx1"/>
                </a:solidFill>
              </a:rPr>
              <a:t>- </a:t>
            </a:r>
            <a:endParaRPr lang="en-US" sz="1200" b="0" noProof="0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467544" y="1340768"/>
            <a:ext cx="820891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4608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0312" y="6309320"/>
            <a:ext cx="1577455" cy="395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53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AU Passata" panose="020B0503030502030804" pitchFamily="34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294E92"/>
        </a:buClr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3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9.e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1.em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11560" y="1700808"/>
            <a:ext cx="7772400" cy="1470025"/>
          </a:xfrm>
        </p:spPr>
        <p:txBody>
          <a:bodyPr/>
          <a:lstStyle/>
          <a:p>
            <a:r>
              <a:rPr lang="da-DK" dirty="0" smtClean="0"/>
              <a:t>Design for </a:t>
            </a:r>
            <a:r>
              <a:rPr lang="da-DK" dirty="0" err="1" smtClean="0"/>
              <a:t>Testability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212976"/>
            <a:ext cx="6400800" cy="477140"/>
          </a:xfrm>
        </p:spPr>
        <p:txBody>
          <a:bodyPr/>
          <a:lstStyle/>
          <a:p>
            <a:endParaRPr lang="da-DK" dirty="0" smtClean="0"/>
          </a:p>
        </p:txBody>
      </p:sp>
      <p:pic>
        <p:nvPicPr>
          <p:cNvPr id="5122" name="Picture 2" descr="https://sites.google.com/site/tdupont750/UnitTest_DependencyInjection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3690116"/>
            <a:ext cx="2836912" cy="3167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080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5"/>
          <p:cNvSpPr>
            <a:spLocks/>
          </p:cNvSpPr>
          <p:nvPr/>
        </p:nvSpPr>
        <p:spPr bwMode="auto">
          <a:xfrm>
            <a:off x="899592" y="3954214"/>
            <a:ext cx="4379913" cy="2085975"/>
          </a:xfrm>
          <a:custGeom>
            <a:avLst/>
            <a:gdLst>
              <a:gd name="T0" fmla="*/ 0 w 14234"/>
              <a:gd name="T1" fmla="*/ 0 h 6778"/>
              <a:gd name="T2" fmla="*/ 0 w 14234"/>
              <a:gd name="T3" fmla="*/ 6778 h 6778"/>
              <a:gd name="T4" fmla="*/ 14234 w 14234"/>
              <a:gd name="T5" fmla="*/ 6778 h 6778"/>
              <a:gd name="T6" fmla="*/ 14234 w 14234"/>
              <a:gd name="T7" fmla="*/ 0 h 6778"/>
              <a:gd name="T8" fmla="*/ 11807 w 14234"/>
              <a:gd name="T9" fmla="*/ 0 h 6778"/>
              <a:gd name="T10" fmla="*/ 11807 w 14234"/>
              <a:gd name="T11" fmla="*/ 13 h 6778"/>
              <a:gd name="T12" fmla="*/ 7117 w 14234"/>
              <a:gd name="T13" fmla="*/ 4703 h 6778"/>
              <a:gd name="T14" fmla="*/ 2427 w 14234"/>
              <a:gd name="T15" fmla="*/ 13 h 6778"/>
              <a:gd name="T16" fmla="*/ 2427 w 14234"/>
              <a:gd name="T17" fmla="*/ 0 h 6778"/>
              <a:gd name="T18" fmla="*/ 0 w 14234"/>
              <a:gd name="T19" fmla="*/ 0 h 67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4234" h="6778">
                <a:moveTo>
                  <a:pt x="0" y="0"/>
                </a:moveTo>
                <a:lnTo>
                  <a:pt x="0" y="6778"/>
                </a:lnTo>
                <a:lnTo>
                  <a:pt x="14234" y="6778"/>
                </a:lnTo>
                <a:lnTo>
                  <a:pt x="14234" y="0"/>
                </a:lnTo>
                <a:lnTo>
                  <a:pt x="11807" y="0"/>
                </a:lnTo>
                <a:cubicBezTo>
                  <a:pt x="11807" y="4"/>
                  <a:pt x="11807" y="9"/>
                  <a:pt x="11807" y="13"/>
                </a:cubicBezTo>
                <a:cubicBezTo>
                  <a:pt x="11807" y="2603"/>
                  <a:pt x="9708" y="4703"/>
                  <a:pt x="7117" y="4703"/>
                </a:cubicBezTo>
                <a:cubicBezTo>
                  <a:pt x="4527" y="4703"/>
                  <a:pt x="2427" y="2603"/>
                  <a:pt x="2427" y="13"/>
                </a:cubicBezTo>
                <a:cubicBezTo>
                  <a:pt x="2427" y="9"/>
                  <a:pt x="2427" y="4"/>
                  <a:pt x="2427" y="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  <a:headEnd/>
            <a:tailEnd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/>
          <a:p>
            <a:r>
              <a:rPr lang="en-US" sz="3600" dirty="0" smtClean="0"/>
              <a:t>Dependencies</a:t>
            </a:r>
            <a:endParaRPr lang="en-US" sz="3600" dirty="0"/>
          </a:p>
        </p:txBody>
      </p:sp>
      <p:sp>
        <p:nvSpPr>
          <p:cNvPr id="14" name="Oval 6"/>
          <p:cNvSpPr>
            <a:spLocks noChangeArrowheads="1"/>
          </p:cNvSpPr>
          <p:nvPr/>
        </p:nvSpPr>
        <p:spPr bwMode="auto">
          <a:xfrm>
            <a:off x="2121967" y="2974726"/>
            <a:ext cx="1935163" cy="1936750"/>
          </a:xfrm>
          <a:prstGeom prst="ellipse">
            <a:avLst/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r>
              <a:rPr lang="en-US" sz="4800" dirty="0" smtClean="0"/>
              <a:t>UUT</a:t>
            </a:r>
            <a:endParaRPr lang="en-US" sz="4800" dirty="0"/>
          </a:p>
        </p:txBody>
      </p:sp>
      <p:sp>
        <p:nvSpPr>
          <p:cNvPr id="16" name="Up-Down Arrow 15"/>
          <p:cNvSpPr/>
          <p:nvPr/>
        </p:nvSpPr>
        <p:spPr>
          <a:xfrm>
            <a:off x="2983484" y="4967838"/>
            <a:ext cx="212128" cy="376911"/>
          </a:xfrm>
          <a:prstGeom prst="up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Up-Down Arrow 16"/>
          <p:cNvSpPr/>
          <p:nvPr/>
        </p:nvSpPr>
        <p:spPr>
          <a:xfrm rot="3600000">
            <a:off x="1901632" y="4303869"/>
            <a:ext cx="212128" cy="376911"/>
          </a:xfrm>
          <a:prstGeom prst="up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Up-Down Arrow 17"/>
          <p:cNvSpPr/>
          <p:nvPr/>
        </p:nvSpPr>
        <p:spPr>
          <a:xfrm rot="18000000" flipH="1">
            <a:off x="4061871" y="4303869"/>
            <a:ext cx="212128" cy="376911"/>
          </a:xfrm>
          <a:prstGeom prst="up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ounded Rectangle 18"/>
          <p:cNvSpPr/>
          <p:nvPr/>
        </p:nvSpPr>
        <p:spPr>
          <a:xfrm>
            <a:off x="1289348" y="1484784"/>
            <a:ext cx="3600400" cy="1008112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smtClean="0"/>
              <a:t>Test code</a:t>
            </a:r>
            <a:endParaRPr lang="en-US" sz="4000" dirty="0"/>
          </a:p>
        </p:txBody>
      </p:sp>
      <p:sp>
        <p:nvSpPr>
          <p:cNvPr id="20" name="Up-Down Arrow 19"/>
          <p:cNvSpPr/>
          <p:nvPr/>
        </p:nvSpPr>
        <p:spPr>
          <a:xfrm rot="18900000" flipH="1">
            <a:off x="2217809" y="2656713"/>
            <a:ext cx="212128" cy="376911"/>
          </a:xfrm>
          <a:prstGeom prst="up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Up-Down Arrow 20"/>
          <p:cNvSpPr/>
          <p:nvPr/>
        </p:nvSpPr>
        <p:spPr>
          <a:xfrm rot="2700000">
            <a:off x="3833220" y="2656713"/>
            <a:ext cx="212128" cy="376911"/>
          </a:xfrm>
          <a:prstGeom prst="up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Up-Down Arrow 21"/>
          <p:cNvSpPr/>
          <p:nvPr/>
        </p:nvSpPr>
        <p:spPr>
          <a:xfrm>
            <a:off x="2983484" y="2548033"/>
            <a:ext cx="212128" cy="376911"/>
          </a:xfrm>
          <a:prstGeom prst="upDownArrow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5303740" y="1573341"/>
            <a:ext cx="354789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All test involves interaction</a:t>
            </a:r>
          </a:p>
          <a:p>
            <a:r>
              <a:rPr lang="en-US" sz="2400" dirty="0" smtClean="0"/>
              <a:t>with the Unit Under Test</a:t>
            </a:r>
          </a:p>
          <a:p>
            <a:r>
              <a:rPr lang="en-US" sz="2400" dirty="0" smtClean="0"/>
              <a:t>(UUT)</a:t>
            </a:r>
            <a:endParaRPr lang="en-US" sz="2400" i="1" dirty="0"/>
          </a:p>
        </p:txBody>
      </p:sp>
      <p:sp>
        <p:nvSpPr>
          <p:cNvPr id="25" name="Line Callout 1 (Accent Bar) 24"/>
          <p:cNvSpPr/>
          <p:nvPr/>
        </p:nvSpPr>
        <p:spPr>
          <a:xfrm>
            <a:off x="5868144" y="2924944"/>
            <a:ext cx="3096344" cy="894751"/>
          </a:xfrm>
          <a:prstGeom prst="accentCallout1">
            <a:avLst>
              <a:gd name="adj1" fmla="val 42169"/>
              <a:gd name="adj2" fmla="val -8641"/>
              <a:gd name="adj3" fmla="val 75575"/>
              <a:gd name="adj4" fmla="val -6483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/>
              <a:t>Either directly, by monitoring responses  (</a:t>
            </a:r>
            <a:r>
              <a:rPr lang="en-US" sz="2400" i="1" dirty="0" smtClean="0"/>
              <a:t>values</a:t>
            </a:r>
            <a:r>
              <a:rPr lang="en-US" sz="2400" dirty="0" smtClean="0"/>
              <a:t>) or resulting </a:t>
            </a:r>
            <a:r>
              <a:rPr lang="en-US" sz="2400" i="1" dirty="0" smtClean="0"/>
              <a:t>state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sp>
        <p:nvSpPr>
          <p:cNvPr id="24" name="Line Callout 1 (Accent Bar) 23"/>
          <p:cNvSpPr/>
          <p:nvPr/>
        </p:nvSpPr>
        <p:spPr>
          <a:xfrm>
            <a:off x="5868144" y="4492324"/>
            <a:ext cx="3096344" cy="1744988"/>
          </a:xfrm>
          <a:prstGeom prst="accentCallout1">
            <a:avLst>
              <a:gd name="adj1" fmla="val 69489"/>
              <a:gd name="adj2" fmla="val -8637"/>
              <a:gd name="adj3" fmla="val 36869"/>
              <a:gd name="adj4" fmla="val -83609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dirty="0" smtClean="0"/>
              <a:t>Or indirectly, by monitoring</a:t>
            </a:r>
          </a:p>
          <a:p>
            <a:r>
              <a:rPr lang="en-US" sz="2400" dirty="0" smtClean="0"/>
              <a:t>how the UUT </a:t>
            </a:r>
            <a:r>
              <a:rPr lang="en-US" sz="2400" i="1" dirty="0" smtClean="0"/>
              <a:t>interacts</a:t>
            </a:r>
            <a:r>
              <a:rPr lang="en-US" sz="2400" dirty="0" smtClean="0"/>
              <a:t> with its dependencies</a:t>
            </a:r>
            <a:endParaRPr lang="en-US" sz="2400" dirty="0"/>
          </a:p>
        </p:txBody>
      </p:sp>
      <p:sp>
        <p:nvSpPr>
          <p:cNvPr id="27" name="Title 1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/>
          <a:lstStyle/>
          <a:p>
            <a:r>
              <a:rPr lang="da-DK" dirty="0" err="1" smtClean="0"/>
              <a:t>Discussion</a:t>
            </a:r>
            <a:r>
              <a:rPr lang="da-DK" dirty="0" smtClean="0"/>
              <a:t> – a general problem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73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5" grpId="0" animBg="1"/>
      <p:bldP spid="2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Testing a class</a:t>
            </a:r>
            <a:endParaRPr lang="da-DK"/>
          </a:p>
        </p:txBody>
      </p:sp>
      <p:graphicFrame>
        <p:nvGraphicFramePr>
          <p:cNvPr id="4" name="Pladsholder til indhold 3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034186"/>
              </p:ext>
            </p:extLst>
          </p:nvPr>
        </p:nvGraphicFramePr>
        <p:xfrm>
          <a:off x="457200" y="1565275"/>
          <a:ext cx="6519863" cy="435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5" name="Visio" r:id="rId3" imgW="6105650" imgH="4076700" progId="Visio.Drawing.15">
                  <p:embed/>
                </p:oleObj>
              </mc:Choice>
              <mc:Fallback>
                <p:oleObj name="Visio" r:id="rId3" imgW="6105650" imgH="4076700" progId="Visio.Drawing.15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57200" y="1565275"/>
                        <a:ext cx="6519863" cy="43529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ktangel 4"/>
          <p:cNvSpPr/>
          <p:nvPr/>
        </p:nvSpPr>
        <p:spPr>
          <a:xfrm>
            <a:off x="5220072" y="3032956"/>
            <a:ext cx="2664296" cy="7920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mtClean="0"/>
              <a:t>methodA calls objB.methodB</a:t>
            </a:r>
            <a:endParaRPr lang="da-DK"/>
          </a:p>
        </p:txBody>
      </p:sp>
      <p:sp>
        <p:nvSpPr>
          <p:cNvPr id="6" name="Rektangel 5"/>
          <p:cNvSpPr/>
          <p:nvPr/>
        </p:nvSpPr>
        <p:spPr>
          <a:xfrm>
            <a:off x="4427984" y="1777376"/>
            <a:ext cx="3168352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mtClean="0"/>
              <a:t>Testclass TestA wants to test A::methodA</a:t>
            </a:r>
            <a:endParaRPr lang="da-DK"/>
          </a:p>
        </p:txBody>
      </p:sp>
      <p:sp>
        <p:nvSpPr>
          <p:cNvPr id="7" name="Rektangel 6"/>
          <p:cNvSpPr/>
          <p:nvPr/>
        </p:nvSpPr>
        <p:spPr>
          <a:xfrm>
            <a:off x="5580112" y="4222250"/>
            <a:ext cx="3062794" cy="430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mtClean="0"/>
              <a:t>The test fails!</a:t>
            </a:r>
            <a:endParaRPr lang="da-DK"/>
          </a:p>
        </p:txBody>
      </p:sp>
      <p:sp>
        <p:nvSpPr>
          <p:cNvPr id="8" name="Rektangel 7"/>
          <p:cNvSpPr/>
          <p:nvPr/>
        </p:nvSpPr>
        <p:spPr>
          <a:xfrm>
            <a:off x="5580112" y="5229200"/>
            <a:ext cx="3062794" cy="432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mtClean="0"/>
              <a:t>Where is the error?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18555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Design for Testability - dependencies</a:t>
            </a: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899592" y="2505377"/>
            <a:ext cx="7344816" cy="27238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2000" dirty="0" smtClean="0"/>
              <a:t>In </a:t>
            </a:r>
            <a:r>
              <a:rPr lang="en-US" sz="2000" dirty="0"/>
              <a:t>order to test a functionality of a class, we first need to </a:t>
            </a:r>
            <a:r>
              <a:rPr lang="en-US" sz="2000" b="1" dirty="0"/>
              <a:t>detach it from the rest of system in which it is designed to work</a:t>
            </a:r>
            <a:r>
              <a:rPr lang="en-US" sz="2000" dirty="0"/>
              <a:t>. We then need to create an instance from that class, activate the tested functionality and finish by making sure the resulting behavior matches our expectations. </a:t>
            </a:r>
            <a:endParaRPr lang="en-US" sz="2000" dirty="0" smtClean="0"/>
          </a:p>
          <a:p>
            <a:endParaRPr lang="en-US" sz="2000" dirty="0"/>
          </a:p>
          <a:p>
            <a:r>
              <a:rPr lang="en-US" sz="2000" dirty="0" smtClean="0"/>
              <a:t>However</a:t>
            </a:r>
            <a:r>
              <a:rPr lang="en-US" sz="2000" dirty="0"/>
              <a:t>, </a:t>
            </a:r>
            <a:r>
              <a:rPr lang="en-US" sz="2000" b="1" dirty="0"/>
              <a:t>unless the system is designed specifically to enable this, in most cases, it will not be simple</a:t>
            </a:r>
            <a:r>
              <a:rPr lang="en-US" sz="2000" b="1" dirty="0" smtClean="0"/>
              <a:t>.</a:t>
            </a:r>
            <a:endParaRPr lang="en-GB" sz="2000" b="1" dirty="0"/>
          </a:p>
          <a:p>
            <a:pPr algn="r"/>
            <a:r>
              <a:rPr lang="en-US" sz="1200" i="1" dirty="0"/>
              <a:t>Gil </a:t>
            </a:r>
            <a:r>
              <a:rPr lang="en-US" sz="1200" i="1" dirty="0" err="1" smtClean="0"/>
              <a:t>Zilberfeld</a:t>
            </a:r>
            <a:r>
              <a:rPr lang="en-US" sz="1200" i="1" dirty="0" smtClean="0"/>
              <a:t>,</a:t>
            </a:r>
            <a:r>
              <a:rPr lang="en-US" sz="1200" i="1" dirty="0"/>
              <a:t> </a:t>
            </a:r>
            <a:r>
              <a:rPr lang="en-GB" sz="1200" i="1" dirty="0" smtClean="0"/>
              <a:t>http</a:t>
            </a:r>
            <a:r>
              <a:rPr lang="en-GB" sz="1200" i="1" dirty="0"/>
              <a:t>://www.infoq.com/articles/Testability</a:t>
            </a:r>
          </a:p>
        </p:txBody>
      </p:sp>
    </p:spTree>
    <p:extLst>
      <p:ext uri="{BB962C8B-B14F-4D97-AF65-F5344CB8AC3E}">
        <p14:creationId xmlns:p14="http://schemas.microsoft.com/office/powerpoint/2010/main" val="218341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Towards controlling dependencies</a:t>
            </a:r>
            <a:endParaRPr lang="en-US" dirty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457200" y="1620343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testable design allows us to detach </a:t>
            </a:r>
            <a:r>
              <a:rPr lang="en-US" i="1" dirty="0" smtClean="0"/>
              <a:t>a single class</a:t>
            </a:r>
            <a:r>
              <a:rPr lang="en-US" dirty="0" smtClean="0"/>
              <a:t> (the UUT) from the rest of the system.</a:t>
            </a:r>
          </a:p>
          <a:p>
            <a:endParaRPr lang="en-US" dirty="0" smtClean="0"/>
          </a:p>
          <a:p>
            <a:r>
              <a:rPr lang="en-US" dirty="0" smtClean="0"/>
              <a:t>Then, we can </a:t>
            </a:r>
            <a:r>
              <a:rPr lang="en-US" i="1" dirty="0" smtClean="0"/>
              <a:t>control</a:t>
            </a:r>
            <a:r>
              <a:rPr lang="en-US" dirty="0" smtClean="0"/>
              <a:t> which dependencies the UUT uses, e.g. our “fake” versions of the dependencies </a:t>
            </a:r>
          </a:p>
          <a:p>
            <a:endParaRPr lang="en-US" dirty="0"/>
          </a:p>
          <a:p>
            <a:r>
              <a:rPr lang="en-US" dirty="0" smtClean="0"/>
              <a:t>There are 3 steps towards control (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en-US" dirty="0" smtClean="0"/>
              <a:t> or Triple-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dirty="0" smtClean="0"/>
              <a:t>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IDENTIFY </a:t>
            </a:r>
            <a:r>
              <a:rPr lang="en-US" i="1" dirty="0" smtClean="0"/>
              <a:t>	Identify </a:t>
            </a:r>
            <a:r>
              <a:rPr lang="en-US" dirty="0" smtClean="0"/>
              <a:t>the external dependency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INTERFACE</a:t>
            </a:r>
            <a:r>
              <a:rPr lang="en-US" dirty="0" smtClean="0"/>
              <a:t> 	Introduce an </a:t>
            </a:r>
            <a:r>
              <a:rPr lang="en-US" i="1" dirty="0" smtClean="0"/>
              <a:t>interface </a:t>
            </a:r>
            <a:r>
              <a:rPr lang="en-US" dirty="0" smtClean="0"/>
              <a:t>(TAOUT: a </a:t>
            </a:r>
            <a:r>
              <a:rPr lang="en-US" i="1" dirty="0" smtClean="0"/>
              <a:t>seam</a:t>
            </a:r>
            <a:r>
              <a:rPr lang="en-US" dirty="0" smtClean="0"/>
              <a:t>) at 		the dependency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b="1" dirty="0" smtClean="0"/>
              <a:t>INJECT	</a:t>
            </a:r>
            <a:r>
              <a:rPr lang="en-US" dirty="0" smtClean="0"/>
              <a:t>	Replace</a:t>
            </a:r>
            <a:r>
              <a:rPr lang="en-US" i="1" dirty="0" smtClean="0"/>
              <a:t> (inject) </a:t>
            </a:r>
            <a:r>
              <a:rPr lang="en-US" dirty="0" smtClean="0"/>
              <a:t>the dependency</a:t>
            </a:r>
          </a:p>
        </p:txBody>
      </p:sp>
    </p:spTree>
    <p:extLst>
      <p:ext uri="{BB962C8B-B14F-4D97-AF65-F5344CB8AC3E}">
        <p14:creationId xmlns:p14="http://schemas.microsoft.com/office/powerpoint/2010/main" val="2884815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dirty="0"/>
              <a:t>: </a:t>
            </a:r>
            <a:r>
              <a:rPr lang="en-US" b="1" dirty="0"/>
              <a:t>Identify</a:t>
            </a:r>
            <a:r>
              <a:rPr lang="en-US" dirty="0"/>
              <a:t> the dependencies</a:t>
            </a:r>
          </a:p>
        </p:txBody>
      </p:sp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4077072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 smtClean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23528" y="1484784"/>
            <a:ext cx="3667992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_bedroom;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_kitchen;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_door;</a:t>
            </a:r>
          </a:p>
          <a:p>
            <a:endParaRPr lang="en-GB" sz="12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House()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_bedroom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_kitchen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_door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Leave()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3" name="Right Arrow 2"/>
          <p:cNvSpPr/>
          <p:nvPr/>
        </p:nvSpPr>
        <p:spPr>
          <a:xfrm rot="10800000">
            <a:off x="3851920" y="1919736"/>
            <a:ext cx="648072" cy="18002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ight Arrow 8"/>
          <p:cNvSpPr/>
          <p:nvPr/>
        </p:nvSpPr>
        <p:spPr>
          <a:xfrm rot="10800000">
            <a:off x="3851920" y="2153763"/>
            <a:ext cx="648072" cy="1800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 rot="10800000">
            <a:off x="3863727" y="2336558"/>
            <a:ext cx="648072" cy="1800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Box 7"/>
          <p:cNvSpPr txBox="1"/>
          <p:nvPr/>
        </p:nvSpPr>
        <p:spPr>
          <a:xfrm>
            <a:off x="4731156" y="2780928"/>
            <a:ext cx="3254417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2400" i="1" dirty="0" smtClean="0"/>
              <a:t>What is the problem?</a:t>
            </a:r>
          </a:p>
          <a:p>
            <a:r>
              <a:rPr lang="en-GB" sz="2400" i="1" dirty="0" smtClean="0"/>
              <a:t>What is the design flaw?</a:t>
            </a:r>
            <a:endParaRPr lang="en-GB" sz="2400" i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727" y="4293096"/>
            <a:ext cx="6314073" cy="2232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4731156" y="1699333"/>
            <a:ext cx="3225220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400" i="1" dirty="0" smtClean="0"/>
              <a:t>Where are the </a:t>
            </a:r>
            <a:br>
              <a:rPr lang="en-GB" sz="2400" i="1" dirty="0" smtClean="0"/>
            </a:br>
            <a:r>
              <a:rPr lang="en-GB" sz="2400" i="1" dirty="0" smtClean="0"/>
              <a:t>dependencies?</a:t>
            </a:r>
            <a:endParaRPr lang="en-GB" sz="2400" i="1" dirty="0"/>
          </a:p>
        </p:txBody>
      </p:sp>
    </p:spTree>
    <p:extLst>
      <p:ext uri="{BB962C8B-B14F-4D97-AF65-F5344CB8AC3E}">
        <p14:creationId xmlns:p14="http://schemas.microsoft.com/office/powerpoint/2010/main" val="347854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  <p:bldP spid="10" grpId="0" animBg="1"/>
      <p:bldP spid="8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2</a:t>
            </a:r>
            <a:r>
              <a:rPr lang="en-US" dirty="0"/>
              <a:t>: </a:t>
            </a:r>
            <a:r>
              <a:rPr lang="en-US" b="1" dirty="0" smtClean="0"/>
              <a:t>Interface</a:t>
            </a:r>
            <a:r>
              <a:rPr lang="en-US" dirty="0" smtClean="0"/>
              <a:t> – Loosen the coupling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381" y="1412776"/>
            <a:ext cx="7317238" cy="39304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Content Placeholder 4"/>
          <p:cNvSpPr txBox="1">
            <a:spLocks/>
          </p:cNvSpPr>
          <p:nvPr/>
        </p:nvSpPr>
        <p:spPr>
          <a:xfrm>
            <a:off x="457200" y="5435330"/>
            <a:ext cx="8229600" cy="944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We can loosen the coupling by introducing </a:t>
            </a:r>
            <a:r>
              <a:rPr lang="en-US" i="1" dirty="0" smtClean="0"/>
              <a:t>interfaces </a:t>
            </a:r>
            <a:r>
              <a:rPr lang="en-US" dirty="0" smtClean="0"/>
              <a:t>to the dependencies</a:t>
            </a:r>
            <a:endParaRPr lang="en-US" dirty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46391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2: </a:t>
            </a:r>
            <a:r>
              <a:rPr lang="en-US" b="1" dirty="0" smtClean="0"/>
              <a:t>Interface</a:t>
            </a:r>
            <a:r>
              <a:rPr lang="en-US" dirty="0" smtClean="0"/>
              <a:t> – Loosen the coupling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491583" y="5445224"/>
            <a:ext cx="3664593" cy="10156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2000" dirty="0" smtClean="0"/>
              <a:t>How can interfaces help us?</a:t>
            </a:r>
          </a:p>
          <a:p>
            <a:r>
              <a:rPr lang="en-GB" sz="2000" dirty="0" smtClean="0"/>
              <a:t>Where do the interfaces go?</a:t>
            </a:r>
          </a:p>
          <a:p>
            <a:r>
              <a:rPr lang="en-GB" sz="2000" dirty="0" smtClean="0"/>
              <a:t>How does this further testability?</a:t>
            </a: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06" y="2611190"/>
            <a:ext cx="7201549" cy="2546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467544" y="1517179"/>
            <a:ext cx="8280920" cy="107721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GB" sz="2400" dirty="0" smtClean="0"/>
              <a:t>What does </a:t>
            </a:r>
            <a:r>
              <a:rPr lang="en-GB" sz="2000" dirty="0">
                <a:latin typeface="Consolas" panose="020B0609020204030204" pitchFamily="49" charset="0"/>
                <a:cs typeface="Consolas" panose="020B0609020204030204" pitchFamily="49" charset="0"/>
              </a:rPr>
              <a:t>House</a:t>
            </a:r>
            <a:r>
              <a:rPr lang="en-GB" sz="2400" dirty="0" smtClean="0"/>
              <a:t> really want to do with the Bedroom?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“To call </a:t>
            </a:r>
            <a:r>
              <a:rPr lang="en-GB" dirty="0" err="1" smtClean="0">
                <a:latin typeface="Consolas" panose="020B0609020204030204" pitchFamily="49" charset="0"/>
                <a:cs typeface="Consolas" panose="020B0609020204030204" pitchFamily="49" charset="0"/>
              </a:rPr>
              <a:t>TurnLightOff</a:t>
            </a:r>
            <a:r>
              <a:rPr lang="en-GB" dirty="0" smtClean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r>
              <a:rPr lang="en-GB" sz="2000" dirty="0" smtClean="0"/>
              <a:t>on its </a:t>
            </a:r>
            <a:r>
              <a:rPr lang="en-GB" dirty="0">
                <a:latin typeface="Consolas" panose="020B0609020204030204" pitchFamily="49" charset="0"/>
                <a:cs typeface="Consolas" panose="020B0609020204030204" pitchFamily="49" charset="0"/>
              </a:rPr>
              <a:t>Bedroom</a:t>
            </a:r>
            <a:r>
              <a:rPr lang="en-GB" sz="2000" dirty="0" smtClean="0"/>
              <a:t> object”, 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000" dirty="0" smtClean="0"/>
              <a:t>“To turn the light off in the bedroom”</a:t>
            </a:r>
            <a:endParaRPr lang="en-GB" sz="2000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827584" y="2093243"/>
            <a:ext cx="5544616" cy="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888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06" y="2611190"/>
            <a:ext cx="7201549" cy="2546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5204" y="2611190"/>
            <a:ext cx="7201549" cy="4189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2: </a:t>
            </a:r>
            <a:r>
              <a:rPr lang="en-US" b="1" dirty="0" smtClean="0"/>
              <a:t>Interface</a:t>
            </a:r>
            <a:r>
              <a:rPr lang="en-US" dirty="0" smtClean="0"/>
              <a:t> – Loosen the coupling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0324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42" presetClass="pat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6 -1.11111E-6 L 4.16667E-6 -0.15463 " pathEditMode="relative" rAng="0" ptsTypes="AA">
                                      <p:cBhvr>
                                        <p:cTn id="13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77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>
            <a:spLocks/>
          </p:cNvSpPr>
          <p:nvPr/>
        </p:nvSpPr>
        <p:spPr>
          <a:xfrm>
            <a:off x="457200" y="4077072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 smtClean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323528" y="1484784"/>
            <a:ext cx="366799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_bedroom;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_kitchen;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_door;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House()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_bedroom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_kitchen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_door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Leavehouse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731156" y="1628800"/>
            <a:ext cx="2639120" cy="461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2400" i="1" dirty="0" smtClean="0"/>
              <a:t>Are we happy now?</a:t>
            </a:r>
            <a:endParaRPr lang="en-GB" sz="2400" i="1" dirty="0"/>
          </a:p>
        </p:txBody>
      </p:sp>
      <p:sp>
        <p:nvSpPr>
          <p:cNvPr id="5" name="Down Arrow 4"/>
          <p:cNvSpPr/>
          <p:nvPr/>
        </p:nvSpPr>
        <p:spPr>
          <a:xfrm rot="4140446">
            <a:off x="4036847" y="1550087"/>
            <a:ext cx="288032" cy="90264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461556"/>
            <a:ext cx="4714875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2: </a:t>
            </a:r>
            <a:r>
              <a:rPr lang="en-US" b="1" dirty="0" smtClean="0"/>
              <a:t>Interface</a:t>
            </a:r>
            <a:r>
              <a:rPr lang="en-US" dirty="0" smtClean="0"/>
              <a:t> – Loosen the coupling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092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2: </a:t>
            </a:r>
            <a:r>
              <a:rPr lang="en-US" b="1" dirty="0"/>
              <a:t>Interface</a:t>
            </a:r>
            <a:r>
              <a:rPr lang="en-US" dirty="0"/>
              <a:t> – Loosen the </a:t>
            </a:r>
            <a:r>
              <a:rPr lang="en-US" dirty="0" smtClean="0"/>
              <a:t>coupling</a:t>
            </a:r>
            <a:br>
              <a:rPr lang="en-US" dirty="0" smtClean="0"/>
            </a:br>
            <a:r>
              <a:rPr lang="en-US" dirty="0" smtClean="0"/>
              <a:t>Make fakes!</a:t>
            </a:r>
            <a:endParaRPr lang="en-US" dirty="0"/>
          </a:p>
        </p:txBody>
      </p:sp>
      <p:graphicFrame>
        <p:nvGraphicFramePr>
          <p:cNvPr id="3" name="Objekt 2"/>
          <p:cNvGraphicFramePr>
            <a:graphicFrameLocks noChangeAspect="1"/>
          </p:cNvGraphicFramePr>
          <p:nvPr>
            <p:extLst/>
          </p:nvPr>
        </p:nvGraphicFramePr>
        <p:xfrm>
          <a:off x="107504" y="1916832"/>
          <a:ext cx="9508173" cy="36334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9" name="Visio" r:id="rId4" imgW="7721480" imgH="2949426" progId="Visio.Drawing.11">
                  <p:embed/>
                </p:oleObj>
              </mc:Choice>
              <mc:Fallback>
                <p:oleObj name="Visio" r:id="rId4" imgW="7721480" imgH="2949426" progId="Visio.Drawing.11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504" y="1916832"/>
                        <a:ext cx="9508173" cy="36334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7616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4"/>
          <p:cNvSpPr txBox="1">
            <a:spLocks/>
          </p:cNvSpPr>
          <p:nvPr/>
        </p:nvSpPr>
        <p:spPr>
          <a:xfrm>
            <a:off x="662880" y="4449301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i="1" dirty="0" smtClean="0"/>
          </a:p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251520" y="1857013"/>
            <a:ext cx="366799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200" b="1" i="1" dirty="0">
                <a:solidFill>
                  <a:srgbClr val="00B05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GB" sz="1200" b="1" i="1" dirty="0" smtClean="0">
                <a:solidFill>
                  <a:srgbClr val="00B050"/>
                </a:solidFill>
                <a:highlight>
                  <a:srgbClr val="FFFFFF"/>
                </a:highlight>
                <a:latin typeface="Consolas"/>
              </a:rPr>
              <a:t>*** Production code ***</a:t>
            </a:r>
            <a:endParaRPr lang="en-GB" sz="1200" b="1" i="1" dirty="0">
              <a:solidFill>
                <a:srgbClr val="00B05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_bedroom;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_kitchen;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_door;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House()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_bedroom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_kitchen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_door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Leavehouse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224488" y="1857013"/>
            <a:ext cx="3667992" cy="397031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200" b="1" i="1" dirty="0" smtClean="0">
                <a:solidFill>
                  <a:srgbClr val="00B050"/>
                </a:solidFill>
                <a:highlight>
                  <a:srgbClr val="FFFFFF"/>
                </a:highlight>
                <a:latin typeface="Consolas"/>
              </a:rPr>
              <a:t>// *** Test code ***</a:t>
            </a:r>
          </a:p>
          <a:p>
            <a:r>
              <a:rPr lang="en-GB" sz="1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_bedroom;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_kitchen;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_door;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House()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_bedroom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FakeBedroom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_kitchen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FakeKitchen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_door =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</a:t>
            </a:r>
            <a:r>
              <a:rPr lang="en-GB" sz="1200" b="1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FrontDoor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Leavehouse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2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2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2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3" name="Left-Right Arrow 2"/>
          <p:cNvSpPr/>
          <p:nvPr/>
        </p:nvSpPr>
        <p:spPr>
          <a:xfrm>
            <a:off x="3203848" y="3068960"/>
            <a:ext cx="2581944" cy="1440160"/>
          </a:xfrm>
          <a:prstGeom prst="leftRightArrow">
            <a:avLst>
              <a:gd name="adj1" fmla="val 50000"/>
              <a:gd name="adj2" fmla="val 3346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i="1" dirty="0" smtClean="0"/>
              <a:t>Change </a:t>
            </a:r>
            <a:r>
              <a:rPr lang="en-GB" dirty="0" smtClean="0"/>
              <a:t>production code to </a:t>
            </a:r>
            <a:r>
              <a:rPr lang="en-GB" i="1" dirty="0" smtClean="0"/>
              <a:t>test</a:t>
            </a:r>
            <a:r>
              <a:rPr lang="en-GB" dirty="0" smtClean="0"/>
              <a:t> it - </a:t>
            </a:r>
            <a:r>
              <a:rPr lang="en-GB" dirty="0" smtClean="0">
                <a:sym typeface="Wingdings" panose="05000000000000000000" pitchFamily="2" charset="2"/>
              </a:rPr>
              <a:t></a:t>
            </a:r>
            <a:endParaRPr lang="en-GB" dirty="0" smtClean="0"/>
          </a:p>
        </p:txBody>
      </p:sp>
      <p:sp>
        <p:nvSpPr>
          <p:cNvPr id="8" name="Title 3"/>
          <p:cNvSpPr>
            <a:spLocks noGrp="1"/>
          </p:cNvSpPr>
          <p:nvPr>
            <p:ph type="title"/>
          </p:nvPr>
        </p:nvSpPr>
        <p:spPr>
          <a:xfrm>
            <a:off x="899592" y="242892"/>
            <a:ext cx="7383274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2: </a:t>
            </a:r>
            <a:r>
              <a:rPr lang="en-US" b="1" dirty="0" smtClean="0"/>
              <a:t>Interface</a:t>
            </a:r>
            <a:r>
              <a:rPr lang="en-US" dirty="0" smtClean="0"/>
              <a:t> – Loosen the coupling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648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3: </a:t>
            </a:r>
            <a:r>
              <a:rPr lang="en-US" b="1" dirty="0" smtClean="0"/>
              <a:t>Inject</a:t>
            </a:r>
            <a:r>
              <a:rPr lang="en-US" dirty="0" smtClean="0"/>
              <a:t> dependency</a:t>
            </a:r>
            <a:endParaRPr lang="en-US" dirty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323528" y="1315331"/>
            <a:ext cx="8136904" cy="8175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We would like to </a:t>
            </a:r>
            <a:r>
              <a:rPr lang="en-US" i="1" dirty="0" smtClean="0"/>
              <a:t>control</a:t>
            </a:r>
            <a:r>
              <a:rPr lang="en-US" dirty="0" smtClean="0"/>
              <a:t> the type of dependencies that </a:t>
            </a:r>
            <a:r>
              <a:rPr lang="en-US" sz="2400" b="1" dirty="0" smtClean="0">
                <a:latin typeface="Lucida Console" pitchFamily="49" charset="0"/>
              </a:rPr>
              <a:t>House</a:t>
            </a:r>
            <a:r>
              <a:rPr lang="en-US" dirty="0" smtClean="0"/>
              <a:t> uses.</a:t>
            </a:r>
          </a:p>
          <a:p>
            <a:pPr lvl="1"/>
            <a:r>
              <a:rPr lang="en-US" dirty="0" smtClean="0"/>
              <a:t>Fake dependencies or real dependencies</a:t>
            </a:r>
          </a:p>
          <a:p>
            <a:endParaRPr lang="en-US" dirty="0"/>
          </a:p>
          <a:p>
            <a:r>
              <a:rPr lang="en-US" dirty="0" smtClean="0"/>
              <a:t>We do this by </a:t>
            </a:r>
            <a:r>
              <a:rPr lang="en-US" i="1" dirty="0" smtClean="0"/>
              <a:t>injecting</a:t>
            </a:r>
            <a:r>
              <a:rPr lang="en-US" dirty="0" smtClean="0"/>
              <a:t> the dependencies into </a:t>
            </a:r>
            <a:r>
              <a:rPr lang="en-US" sz="2400" b="1" dirty="0" smtClean="0">
                <a:latin typeface="Consolas" panose="020B0609020204030204" pitchFamily="49" charset="0"/>
              </a:rPr>
              <a:t>House</a:t>
            </a:r>
            <a:r>
              <a:rPr lang="en-US" dirty="0" smtClean="0"/>
              <a:t>.</a:t>
            </a:r>
          </a:p>
          <a:p>
            <a:pPr lvl="1"/>
            <a:r>
              <a:rPr lang="en-US" dirty="0"/>
              <a:t>Remember: Since </a:t>
            </a:r>
            <a:r>
              <a:rPr lang="en-US" sz="2000" b="1" dirty="0" smtClean="0">
                <a:latin typeface="Lucida Console" pitchFamily="49" charset="0"/>
              </a:rPr>
              <a:t>House</a:t>
            </a:r>
            <a:r>
              <a:rPr lang="en-US" dirty="0"/>
              <a:t> uses interfaces to its’ dependencies, it </a:t>
            </a:r>
            <a:r>
              <a:rPr lang="en-US" dirty="0" smtClean="0"/>
              <a:t>does not care about their concrete types</a:t>
            </a:r>
          </a:p>
          <a:p>
            <a:pPr lvl="1"/>
            <a:r>
              <a:rPr lang="en-US" dirty="0" smtClean="0"/>
              <a:t>So instead of letting </a:t>
            </a:r>
            <a:r>
              <a:rPr lang="en-US" sz="2000" b="1" dirty="0" smtClean="0">
                <a:latin typeface="Lucida Console" pitchFamily="49" charset="0"/>
              </a:rPr>
              <a:t>House</a:t>
            </a:r>
            <a:r>
              <a:rPr lang="en-US" sz="1600" dirty="0" smtClean="0"/>
              <a:t> </a:t>
            </a:r>
            <a:r>
              <a:rPr lang="en-US" dirty="0" smtClean="0"/>
              <a:t>construct </a:t>
            </a:r>
            <a:r>
              <a:rPr lang="en-US" dirty="0"/>
              <a:t>it’s own dependencies, </a:t>
            </a:r>
            <a:r>
              <a:rPr lang="en-US" dirty="0" smtClean="0"/>
              <a:t>we </a:t>
            </a:r>
            <a:r>
              <a:rPr lang="en-US" i="1" dirty="0" smtClean="0"/>
              <a:t>inject</a:t>
            </a:r>
            <a:r>
              <a:rPr lang="en-US" dirty="0"/>
              <a:t> them into </a:t>
            </a:r>
            <a:r>
              <a:rPr lang="en-US" sz="2000" b="1" dirty="0">
                <a:latin typeface="Lucida Console" pitchFamily="49" charset="0"/>
              </a:rPr>
              <a:t>House</a:t>
            </a:r>
          </a:p>
          <a:p>
            <a:pPr lvl="1"/>
            <a:r>
              <a:rPr lang="en-US" dirty="0" smtClean="0"/>
              <a:t>This means that we can isolate </a:t>
            </a:r>
            <a:r>
              <a:rPr lang="en-US" sz="2000" b="1" dirty="0" smtClean="0">
                <a:latin typeface="Lucida Console" pitchFamily="49" charset="0"/>
              </a:rPr>
              <a:t>House</a:t>
            </a:r>
            <a:r>
              <a:rPr lang="en-US" dirty="0" smtClean="0"/>
              <a:t> from the </a:t>
            </a:r>
            <a:br>
              <a:rPr lang="en-US" dirty="0" smtClean="0"/>
            </a:br>
            <a:r>
              <a:rPr lang="en-US" dirty="0" smtClean="0"/>
              <a:t>rest of the system!</a:t>
            </a:r>
          </a:p>
          <a:p>
            <a:endParaRPr lang="en-US" dirty="0"/>
          </a:p>
        </p:txBody>
      </p:sp>
      <p:sp>
        <p:nvSpPr>
          <p:cNvPr id="11" name="Content Placeholder 4"/>
          <p:cNvSpPr txBox="1">
            <a:spLocks/>
          </p:cNvSpPr>
          <p:nvPr/>
        </p:nvSpPr>
        <p:spPr>
          <a:xfrm>
            <a:off x="4355976" y="3140968"/>
            <a:ext cx="6192688" cy="94456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40352" y="116632"/>
            <a:ext cx="1121394" cy="11213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95654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42892"/>
            <a:ext cx="828092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3</a:t>
            </a:r>
            <a:r>
              <a:rPr lang="en-US" dirty="0"/>
              <a:t>: </a:t>
            </a:r>
            <a:r>
              <a:rPr lang="en-US" dirty="0" smtClean="0"/>
              <a:t>Constructor injection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3528" y="1484784"/>
            <a:ext cx="3339376" cy="415498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IBedroom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_bedroom;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IKitchen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_kitchen;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readonly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IFrontDoor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_door;</a:t>
            </a:r>
          </a:p>
          <a:p>
            <a:endParaRPr lang="en-GB" sz="11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b="1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Constructor injection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House (</a:t>
            </a:r>
            <a:endParaRPr lang="en-GB" sz="11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IBedroom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bedroom, 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IKitchen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kitchen, 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IFrontDoor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door)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_bedroom = bedroom;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_kitchen = kitchen;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_door = door;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Leavehouse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83968" y="1485181"/>
            <a:ext cx="4185761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100" b="1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Production</a:t>
            </a:r>
          </a:p>
          <a:p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Program</a:t>
            </a:r>
            <a:endParaRPr lang="en-GB" sz="11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static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</a:t>
            </a:r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[] </a:t>
            </a:r>
            <a:r>
              <a:rPr lang="en-GB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args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{</a:t>
            </a:r>
          </a:p>
          <a:p>
            <a:r>
              <a:rPr lang="en-GB" sz="1100" i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i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</a:t>
            </a:r>
            <a:r>
              <a:rPr lang="en-GB" sz="1100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Use constructor injection to inject </a:t>
            </a:r>
            <a:r>
              <a:rPr lang="en-GB" sz="1100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reals</a:t>
            </a:r>
            <a:endParaRPr lang="en-GB" sz="11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   </a:t>
            </a:r>
            <a:r>
              <a:rPr lang="en-GB" sz="11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house = </a:t>
            </a:r>
            <a:r>
              <a:rPr lang="en-GB" sz="11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</a:p>
          <a:p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</a:t>
            </a:r>
            <a:r>
              <a:rPr lang="en-GB" sz="11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Bedroom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(),</a:t>
            </a:r>
          </a:p>
          <a:p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</a:t>
            </a:r>
            <a:r>
              <a:rPr lang="en-GB" sz="11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Kitchen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(),</a:t>
            </a:r>
          </a:p>
          <a:p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 </a:t>
            </a:r>
            <a:r>
              <a:rPr lang="en-GB" sz="11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FrontDoor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);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}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83968" y="4452208"/>
            <a:ext cx="4185761" cy="178510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Test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Test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House_Ctor_ConstructorInj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i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i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GB" sz="1100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Use constructor injection to inject fakes</a:t>
            </a:r>
            <a:endParaRPr lang="en-GB" sz="1100" i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 err="1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uut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</a:t>
            </a:r>
            <a:endParaRPr lang="en-GB" sz="11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FakeBedroom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(),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FakeKitchen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(),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FakeFrontDoor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592" y="5766355"/>
            <a:ext cx="2043232" cy="83099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2000" dirty="0" smtClean="0">
                <a:latin typeface="Consolas" panose="020B0609020204030204" pitchFamily="49" charset="0"/>
                <a:cs typeface="Consolas" panose="020B0609020204030204" pitchFamily="49" charset="0"/>
              </a:rPr>
              <a:t>House</a:t>
            </a:r>
            <a:r>
              <a:rPr lang="en-GB" sz="1600" dirty="0" smtClean="0"/>
              <a:t> </a:t>
            </a:r>
            <a:r>
              <a:rPr lang="en-GB" sz="2400" dirty="0" smtClean="0"/>
              <a:t>remains unchanged</a:t>
            </a:r>
          </a:p>
        </p:txBody>
      </p:sp>
      <p:sp>
        <p:nvSpPr>
          <p:cNvPr id="7" name="Down Arrow 6"/>
          <p:cNvSpPr/>
          <p:nvPr/>
        </p:nvSpPr>
        <p:spPr>
          <a:xfrm rot="10800000">
            <a:off x="1691680" y="5426829"/>
            <a:ext cx="432048" cy="306427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435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6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67544" y="242892"/>
            <a:ext cx="8280920" cy="1143000"/>
          </a:xfrm>
        </p:spPr>
        <p:txBody>
          <a:bodyPr>
            <a:normAutofit/>
          </a:bodyPr>
          <a:lstStyle/>
          <a:p>
            <a:r>
              <a:rPr lang="en-US" dirty="0" smtClean="0"/>
              <a:t>3</a:t>
            </a:r>
            <a:r>
              <a:rPr lang="en-US" dirty="0"/>
              <a:t>: </a:t>
            </a:r>
            <a:r>
              <a:rPr lang="en-US" dirty="0" smtClean="0"/>
              <a:t>Property injection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79512" y="1484784"/>
            <a:ext cx="3954929" cy="39857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b="1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Properties allow property injection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IBedroom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Bedroom {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get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set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}</a:t>
            </a:r>
          </a:p>
          <a:p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IKitchen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Kitchen {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get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set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}</a:t>
            </a:r>
          </a:p>
          <a:p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IFrontDoor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Door {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private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get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</a:t>
            </a:r>
            <a:r>
              <a:rPr lang="en-US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set</a:t>
            </a:r>
            <a:r>
              <a:rPr lang="en-US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 }</a:t>
            </a:r>
          </a:p>
          <a:p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House()</a:t>
            </a:r>
            <a:endParaRPr lang="en-GB" sz="11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b="1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      // Initialize dep’s – may be overwritten</a:t>
            </a:r>
            <a:b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</a:br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        // later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Bedroom =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Bedroom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Kitchen =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Kitchen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Door =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FrontDoor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Leavehouse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04046" y="1485181"/>
            <a:ext cx="3672409" cy="16158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Production</a:t>
            </a:r>
            <a:endParaRPr lang="en-GB" sz="1100" i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Program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static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Main(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string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[]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args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b="1" i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</a:t>
            </a:r>
            <a:r>
              <a:rPr lang="en-GB" sz="1100" b="1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Use </a:t>
            </a:r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default properties (reals)</a:t>
            </a:r>
            <a:endParaRPr lang="en-GB" sz="11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   </a:t>
            </a:r>
            <a:r>
              <a:rPr lang="en-GB" sz="11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house =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8024" y="3477637"/>
            <a:ext cx="3672408" cy="195438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GB" sz="1100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</a:t>
            </a:r>
            <a:r>
              <a:rPr lang="en-GB" sz="1100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Test</a:t>
            </a:r>
            <a:endParaRPr lang="en-GB" sz="11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[</a:t>
            </a:r>
            <a:r>
              <a:rPr lang="en-GB" sz="1100" dirty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Test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]</a:t>
            </a:r>
          </a:p>
          <a:p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House_Ctor_PropertyInj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var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uut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endParaRPr lang="en-GB" sz="1100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b="1" i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b="1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// Use </a:t>
            </a:r>
            <a:r>
              <a:rPr lang="en-GB" sz="1100" b="1" i="1" dirty="0" smtClean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property </a:t>
            </a:r>
            <a:r>
              <a:rPr lang="en-GB" sz="1100" b="1" i="1" dirty="0">
                <a:solidFill>
                  <a:srgbClr val="008000"/>
                </a:solidFill>
                <a:highlight>
                  <a:srgbClr val="FFFFFF"/>
                </a:highlight>
                <a:latin typeface="Consolas"/>
              </a:rPr>
              <a:t>injection to inject fakes</a:t>
            </a:r>
            <a:endParaRPr lang="en-GB" sz="1100" b="1" dirty="0" smtClean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uut.Bedroom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FakeBedroom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uut.Kitchen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FakeKitchen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uut.Door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= </a:t>
            </a:r>
            <a:r>
              <a:rPr lang="en-GB" sz="1100" b="1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new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FakeFrontDoor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67544" y="5657671"/>
            <a:ext cx="7704856" cy="1200329"/>
          </a:xfrm>
          <a:prstGeom prst="rect">
            <a:avLst/>
          </a:prstGeom>
          <a:solidFill>
            <a:srgbClr val="FF0000"/>
          </a:solidFill>
        </p:spPr>
        <p:txBody>
          <a:bodyPr wrap="square" rtlCol="0">
            <a:spAutoFit/>
          </a:bodyPr>
          <a:lstStyle/>
          <a:p>
            <a:r>
              <a:rPr lang="da-DK" dirty="0" smtClean="0"/>
              <a:t>Problemer: 1) Hvis klassen selv oprette </a:t>
            </a:r>
            <a:r>
              <a:rPr lang="da-DK" dirty="0" err="1" smtClean="0"/>
              <a:t>dep</a:t>
            </a:r>
            <a:r>
              <a:rPr lang="da-DK" dirty="0" smtClean="0"/>
              <a:t>. i </a:t>
            </a:r>
            <a:r>
              <a:rPr lang="da-DK" dirty="0" err="1" smtClean="0"/>
              <a:t>constr</a:t>
            </a:r>
            <a:r>
              <a:rPr lang="da-DK" dirty="0" smtClean="0"/>
              <a:t>. kan de udføre ting, der ikke kan tilbageføres selvom man overskriver </a:t>
            </a:r>
            <a:r>
              <a:rPr lang="da-DK" dirty="0" err="1" smtClean="0"/>
              <a:t>dep</a:t>
            </a:r>
            <a:r>
              <a:rPr lang="da-DK" dirty="0"/>
              <a:t>!</a:t>
            </a:r>
            <a:endParaRPr lang="da-DK" dirty="0" smtClean="0"/>
          </a:p>
          <a:p>
            <a:r>
              <a:rPr lang="da-DK" dirty="0" smtClean="0"/>
              <a:t>2) Der skal som minimum være en skalimplementering af </a:t>
            </a:r>
            <a:r>
              <a:rPr lang="da-DK" dirty="0" err="1" smtClean="0"/>
              <a:t>dep</a:t>
            </a:r>
            <a:r>
              <a:rPr lang="da-DK" dirty="0" smtClean="0"/>
              <a:t>. for at de kan oprettes!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354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3200" dirty="0" smtClean="0"/>
              <a:t>The invisible dependencies!</a:t>
            </a:r>
            <a:endParaRPr lang="en-US" sz="3200" dirty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457200" y="1700808"/>
            <a:ext cx="8229600" cy="46805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At some point, we must consider the real world in our system</a:t>
            </a:r>
          </a:p>
          <a:p>
            <a:r>
              <a:rPr lang="en-US" dirty="0"/>
              <a:t>Classics are “uncontrollable” dependencies</a:t>
            </a:r>
            <a:endParaRPr lang="en-US" dirty="0" smtClean="0"/>
          </a:p>
          <a:p>
            <a:pPr lvl="1"/>
            <a:r>
              <a:rPr lang="en-US" dirty="0" smtClean="0"/>
              <a:t>Time, file system, console, randomness, external hardware and its drivers, …</a:t>
            </a:r>
          </a:p>
          <a:p>
            <a:r>
              <a:rPr lang="en-US" dirty="0" smtClean="0"/>
              <a:t>We do not omit dependency inclusion, we defer it!</a:t>
            </a:r>
          </a:p>
          <a:p>
            <a:pPr lvl="1"/>
            <a:r>
              <a:rPr lang="en-US" dirty="0" smtClean="0"/>
              <a:t>During unit testing (and initial integration testing), we isolate the use of these dependencies as much as possible</a:t>
            </a:r>
          </a:p>
          <a:p>
            <a:pPr lvl="1"/>
            <a:r>
              <a:rPr lang="en-US" dirty="0" smtClean="0"/>
              <a:t>When time comes, we can integrate external dependencies with a high degree of confidence</a:t>
            </a:r>
          </a:p>
        </p:txBody>
      </p:sp>
    </p:spTree>
    <p:extLst>
      <p:ext uri="{BB962C8B-B14F-4D97-AF65-F5344CB8AC3E}">
        <p14:creationId xmlns:p14="http://schemas.microsoft.com/office/powerpoint/2010/main" val="3813231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 smtClean="0"/>
              <a:t>Example</a:t>
            </a:r>
            <a:r>
              <a:rPr lang="da-DK" dirty="0" smtClean="0"/>
              <a:t> of </a:t>
            </a:r>
            <a:r>
              <a:rPr lang="da-DK" dirty="0" err="1" smtClean="0"/>
              <a:t>uncontrollable</a:t>
            </a:r>
            <a:r>
              <a:rPr lang="da-DK" dirty="0" smtClean="0"/>
              <a:t> </a:t>
            </a:r>
            <a:r>
              <a:rPr lang="da-DK" dirty="0" err="1" smtClean="0"/>
              <a:t>external</a:t>
            </a:r>
            <a:r>
              <a:rPr lang="da-DK" dirty="0" smtClean="0"/>
              <a:t> </a:t>
            </a:r>
            <a:r>
              <a:rPr lang="da-DK" dirty="0" err="1" smtClean="0"/>
              <a:t>dependencies</a:t>
            </a:r>
            <a:endParaRPr lang="da-DK" dirty="0"/>
          </a:p>
        </p:txBody>
      </p:sp>
      <p:sp>
        <p:nvSpPr>
          <p:cNvPr id="6" name="TextBox 9"/>
          <p:cNvSpPr txBox="1"/>
          <p:nvPr/>
        </p:nvSpPr>
        <p:spPr>
          <a:xfrm>
            <a:off x="755576" y="2809961"/>
            <a:ext cx="4801314" cy="246221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CloseHouse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// If after bedtime – close down house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if (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System.DateTime.Now.Hour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&gt;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22)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{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// Log the event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</a:t>
            </a:r>
            <a:r>
              <a:rPr lang="en-GB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System.Console.WriteLine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("House closed down");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8" name="Rektangel 7"/>
          <p:cNvSpPr/>
          <p:nvPr/>
        </p:nvSpPr>
        <p:spPr>
          <a:xfrm>
            <a:off x="5868144" y="1543350"/>
            <a:ext cx="273630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000" dirty="0" smtClean="0">
                <a:solidFill>
                  <a:schemeClr val="tx1"/>
                </a:solidFill>
              </a:rPr>
              <a:t>How </a:t>
            </a:r>
            <a:r>
              <a:rPr lang="da-DK" sz="2000" dirty="0" err="1" smtClean="0">
                <a:solidFill>
                  <a:schemeClr val="tx1"/>
                </a:solidFill>
              </a:rPr>
              <a:t>can</a:t>
            </a:r>
            <a:r>
              <a:rPr lang="da-DK" sz="2000" dirty="0" smtClean="0">
                <a:solidFill>
                  <a:schemeClr val="tx1"/>
                </a:solidFill>
              </a:rPr>
              <a:t> </a:t>
            </a:r>
            <a:r>
              <a:rPr lang="da-DK" sz="2000" dirty="0" err="1" smtClean="0">
                <a:solidFill>
                  <a:schemeClr val="tx1"/>
                </a:solidFill>
              </a:rPr>
              <a:t>we</a:t>
            </a:r>
            <a:r>
              <a:rPr lang="da-DK" sz="2000" dirty="0" smtClean="0">
                <a:solidFill>
                  <a:schemeClr val="tx1"/>
                </a:solidFill>
              </a:rPr>
              <a:t> test </a:t>
            </a:r>
            <a:r>
              <a:rPr lang="da-DK" sz="2000" dirty="0" err="1" smtClean="0">
                <a:solidFill>
                  <a:schemeClr val="tx1"/>
                </a:solidFill>
              </a:rPr>
              <a:t>this</a:t>
            </a:r>
            <a:r>
              <a:rPr lang="da-DK" sz="2000" dirty="0" smtClean="0">
                <a:solidFill>
                  <a:schemeClr val="tx1"/>
                </a:solidFill>
              </a:rPr>
              <a:t>:</a:t>
            </a:r>
          </a:p>
          <a:p>
            <a:pPr algn="ctr"/>
            <a:r>
              <a:rPr lang="da-DK" sz="2000" dirty="0" smtClean="0">
                <a:solidFill>
                  <a:schemeClr val="tx1"/>
                </a:solidFill>
              </a:rPr>
              <a:t>Anytime?</a:t>
            </a:r>
          </a:p>
          <a:p>
            <a:pPr algn="ctr"/>
            <a:r>
              <a:rPr lang="da-DK" sz="2000" dirty="0" err="1" smtClean="0">
                <a:solidFill>
                  <a:schemeClr val="tx1"/>
                </a:solidFill>
              </a:rPr>
              <a:t>Automatically</a:t>
            </a:r>
            <a:r>
              <a:rPr lang="da-DK" sz="2000" dirty="0" smtClea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Rektangel 8"/>
          <p:cNvSpPr/>
          <p:nvPr/>
        </p:nvSpPr>
        <p:spPr>
          <a:xfrm>
            <a:off x="5868144" y="3284984"/>
            <a:ext cx="273630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000" dirty="0" err="1" smtClean="0">
                <a:solidFill>
                  <a:schemeClr val="tx1"/>
                </a:solidFill>
              </a:rPr>
              <a:t>Wait</a:t>
            </a:r>
            <a:r>
              <a:rPr lang="da-DK" sz="2000" dirty="0" smtClean="0">
                <a:solidFill>
                  <a:schemeClr val="tx1"/>
                </a:solidFill>
              </a:rPr>
              <a:t> </a:t>
            </a:r>
            <a:r>
              <a:rPr lang="da-DK" sz="2000" dirty="0" err="1" smtClean="0">
                <a:solidFill>
                  <a:schemeClr val="tx1"/>
                </a:solidFill>
              </a:rPr>
              <a:t>until</a:t>
            </a:r>
            <a:r>
              <a:rPr lang="da-DK" sz="2000" dirty="0" smtClean="0">
                <a:solidFill>
                  <a:schemeClr val="tx1"/>
                </a:solidFill>
              </a:rPr>
              <a:t> </a:t>
            </a:r>
            <a:r>
              <a:rPr lang="da-DK" sz="2000" dirty="0" err="1" smtClean="0">
                <a:solidFill>
                  <a:schemeClr val="tx1"/>
                </a:solidFill>
              </a:rPr>
              <a:t>after</a:t>
            </a:r>
            <a:r>
              <a:rPr lang="da-DK" sz="2000" dirty="0" smtClean="0">
                <a:solidFill>
                  <a:schemeClr val="tx1"/>
                </a:solidFill>
              </a:rPr>
              <a:t> 22:00 but </a:t>
            </a:r>
            <a:r>
              <a:rPr lang="da-DK" sz="2000" dirty="0" err="1" smtClean="0">
                <a:solidFill>
                  <a:schemeClr val="tx1"/>
                </a:solidFill>
              </a:rPr>
              <a:t>before</a:t>
            </a:r>
            <a:r>
              <a:rPr lang="da-DK" sz="2000" dirty="0" smtClean="0">
                <a:solidFill>
                  <a:schemeClr val="tx1"/>
                </a:solidFill>
              </a:rPr>
              <a:t> 00:00?</a:t>
            </a:r>
            <a:endParaRPr lang="da-DK" sz="2000" dirty="0">
              <a:solidFill>
                <a:schemeClr val="tx1"/>
              </a:solidFill>
            </a:endParaRPr>
          </a:p>
        </p:txBody>
      </p:sp>
      <p:sp>
        <p:nvSpPr>
          <p:cNvPr id="10" name="Højrepil 9"/>
          <p:cNvSpPr/>
          <p:nvPr/>
        </p:nvSpPr>
        <p:spPr>
          <a:xfrm rot="10800000">
            <a:off x="4211960" y="3645024"/>
            <a:ext cx="1584176" cy="2160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  <p:sp>
        <p:nvSpPr>
          <p:cNvPr id="11" name="Rektangel 10"/>
          <p:cNvSpPr/>
          <p:nvPr/>
        </p:nvSpPr>
        <p:spPr>
          <a:xfrm>
            <a:off x="5868144" y="5445224"/>
            <a:ext cx="273630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000" dirty="0" smtClean="0">
                <a:solidFill>
                  <a:schemeClr val="tx1"/>
                </a:solidFill>
              </a:rPr>
              <a:t>Using </a:t>
            </a:r>
            <a:r>
              <a:rPr lang="da-DK" sz="2000" dirty="0" err="1" smtClean="0">
                <a:solidFill>
                  <a:schemeClr val="tx1"/>
                </a:solidFill>
              </a:rPr>
              <a:t>picture</a:t>
            </a:r>
            <a:r>
              <a:rPr lang="da-DK" sz="2000" dirty="0" smtClean="0">
                <a:solidFill>
                  <a:schemeClr val="tx1"/>
                </a:solidFill>
              </a:rPr>
              <a:t> </a:t>
            </a:r>
            <a:r>
              <a:rPr lang="da-DK" sz="2000" dirty="0" err="1" smtClean="0">
                <a:solidFill>
                  <a:schemeClr val="tx1"/>
                </a:solidFill>
              </a:rPr>
              <a:t>analysis</a:t>
            </a:r>
            <a:r>
              <a:rPr lang="da-DK" sz="2000" dirty="0" smtClean="0">
                <a:solidFill>
                  <a:schemeClr val="tx1"/>
                </a:solidFill>
              </a:rPr>
              <a:t> on a </a:t>
            </a:r>
            <a:r>
              <a:rPr lang="da-DK" sz="2000" dirty="0" err="1" smtClean="0">
                <a:solidFill>
                  <a:schemeClr val="tx1"/>
                </a:solidFill>
              </a:rPr>
              <a:t>camera</a:t>
            </a:r>
            <a:r>
              <a:rPr lang="da-DK" sz="2000" dirty="0" smtClean="0">
                <a:solidFill>
                  <a:schemeClr val="tx1"/>
                </a:solidFill>
              </a:rPr>
              <a:t> </a:t>
            </a:r>
            <a:r>
              <a:rPr lang="da-DK" sz="2000" dirty="0" err="1" smtClean="0">
                <a:solidFill>
                  <a:schemeClr val="tx1"/>
                </a:solidFill>
              </a:rPr>
              <a:t>picture</a:t>
            </a:r>
            <a:r>
              <a:rPr lang="da-DK" sz="2000" dirty="0" smtClean="0">
                <a:solidFill>
                  <a:schemeClr val="tx1"/>
                </a:solidFill>
              </a:rPr>
              <a:t> of the </a:t>
            </a:r>
            <a:r>
              <a:rPr lang="da-DK" sz="2000" dirty="0" err="1" smtClean="0">
                <a:solidFill>
                  <a:schemeClr val="tx1"/>
                </a:solidFill>
              </a:rPr>
              <a:t>console</a:t>
            </a:r>
            <a:r>
              <a:rPr lang="da-DK" sz="2000"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4" name="Højrepil 13"/>
          <p:cNvSpPr/>
          <p:nvPr/>
        </p:nvSpPr>
        <p:spPr>
          <a:xfrm rot="12627500">
            <a:off x="5405244" y="4998321"/>
            <a:ext cx="1240616" cy="216024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3312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 smtClean="0"/>
              <a:t>Solving</a:t>
            </a:r>
            <a:r>
              <a:rPr lang="da-DK" dirty="0" smtClean="0"/>
              <a:t> </a:t>
            </a:r>
            <a:r>
              <a:rPr lang="da-DK" dirty="0" err="1" smtClean="0"/>
              <a:t>uncontrollable</a:t>
            </a:r>
            <a:r>
              <a:rPr lang="da-DK" dirty="0" smtClean="0"/>
              <a:t> </a:t>
            </a:r>
            <a:r>
              <a:rPr lang="da-DK" dirty="0" err="1" smtClean="0"/>
              <a:t>external</a:t>
            </a:r>
            <a:r>
              <a:rPr lang="da-DK" dirty="0" smtClean="0"/>
              <a:t> </a:t>
            </a:r>
            <a:r>
              <a:rPr lang="da-DK" dirty="0" err="1" smtClean="0"/>
              <a:t>dependencies</a:t>
            </a:r>
            <a:endParaRPr lang="da-DK" dirty="0"/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7200516"/>
              </p:ext>
            </p:extLst>
          </p:nvPr>
        </p:nvGraphicFramePr>
        <p:xfrm>
          <a:off x="683568" y="2132856"/>
          <a:ext cx="8034416" cy="41313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6" name="Visio" r:id="rId3" imgW="7848659" imgH="4010025" progId="Visio.Drawing.11">
                  <p:embed/>
                </p:oleObj>
              </mc:Choice>
              <mc:Fallback>
                <p:oleObj name="Visio" r:id="rId3" imgW="7848659" imgH="4010025" progId="Visio.Drawing.11">
                  <p:embed/>
                  <p:pic>
                    <p:nvPicPr>
                      <p:cNvPr id="3" name="Objek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568" y="2132856"/>
                        <a:ext cx="8034416" cy="41313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ktangel 2"/>
          <p:cNvSpPr/>
          <p:nvPr/>
        </p:nvSpPr>
        <p:spPr>
          <a:xfrm>
            <a:off x="5868144" y="2118041"/>
            <a:ext cx="273630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000" dirty="0" err="1" smtClean="0">
                <a:solidFill>
                  <a:schemeClr val="tx1"/>
                </a:solidFill>
              </a:rPr>
              <a:t>Encapsulation</a:t>
            </a:r>
            <a:r>
              <a:rPr lang="da-DK" sz="2000" dirty="0" smtClean="0">
                <a:solidFill>
                  <a:schemeClr val="tx1"/>
                </a:solidFill>
              </a:rPr>
              <a:t>!</a:t>
            </a:r>
            <a:endParaRPr lang="da-DK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322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/>
              <a:t>Solving uncontrollable external dependencies</a:t>
            </a:r>
            <a:endParaRPr lang="da-DK" dirty="0"/>
          </a:p>
        </p:txBody>
      </p:sp>
      <p:sp>
        <p:nvSpPr>
          <p:cNvPr id="5" name="TextBox 9"/>
          <p:cNvSpPr txBox="1"/>
          <p:nvPr/>
        </p:nvSpPr>
        <p:spPr>
          <a:xfrm>
            <a:off x="2267744" y="1484784"/>
            <a:ext cx="4493538" cy="500136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class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House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</a:t>
            </a:r>
            <a:r>
              <a:rPr lang="en-GB" sz="1100" b="1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House (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IBedroom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bedroom, 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IKitchen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kitchen, 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b="1" dirty="0" err="1">
                <a:solidFill>
                  <a:srgbClr val="2B91AF"/>
                </a:solidFill>
                <a:highlight>
                  <a:srgbClr val="FFFFFF"/>
                </a:highlight>
                <a:latin typeface="Consolas"/>
              </a:rPr>
              <a:t>IFrontDoor</a:t>
            </a:r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door,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</a:t>
            </a:r>
            <a:r>
              <a:rPr lang="en-GB" sz="11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ITimeProvider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timep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,</a:t>
            </a:r>
          </a:p>
          <a:p>
            <a:r>
              <a:rPr lang="en-GB" sz="1100" b="1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</a:t>
            </a:r>
            <a:r>
              <a:rPr lang="en-GB" sz="1100" b="1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Ilogger</a:t>
            </a:r>
            <a:r>
              <a:rPr lang="en-GB" sz="1100" b="1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logger)</a:t>
            </a:r>
            <a:endParaRPr lang="en-GB" sz="1100" b="1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_bedroom = bedroom;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_kitchen = kitchen;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_door = door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_</a:t>
            </a:r>
            <a:r>
              <a:rPr lang="en-GB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timeProvider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= </a:t>
            </a:r>
            <a:r>
              <a:rPr lang="en-GB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timep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;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_logger = logger;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}</a:t>
            </a:r>
          </a:p>
          <a:p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public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>
                <a:solidFill>
                  <a:srgbClr val="0000FF"/>
                </a:solidFill>
                <a:highlight>
                  <a:srgbClr val="FFFFFF"/>
                </a:highlight>
                <a:latin typeface="Consolas"/>
              </a:rPr>
              <a:t>void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Leavehouse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{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// If after bedtime – close down house</a:t>
            </a:r>
          </a:p>
          <a:p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if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(_</a:t>
            </a:r>
            <a:r>
              <a:rPr lang="en-GB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timeProvider.getHour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 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&gt;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22)</a:t>
            </a: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{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Kitchen.ShutDownAllAppliances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Bedroom.TurnLightOff</a:t>
            </a:r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 </a:t>
            </a:r>
            <a:r>
              <a:rPr lang="en-GB" sz="1100" dirty="0" err="1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Door.Lock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();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// Log the event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   _</a:t>
            </a:r>
            <a:r>
              <a:rPr lang="en-GB" sz="11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logger.WriteLogLine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("House closed down");</a:t>
            </a:r>
          </a:p>
          <a:p>
            <a:pPr lvl="1"/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</a:t>
            </a:r>
            <a:r>
              <a:rPr lang="en-GB" sz="11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}</a:t>
            </a:r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  <a:p>
            <a:r>
              <a:rPr lang="en-GB" sz="1100" dirty="0">
                <a:solidFill>
                  <a:srgbClr val="000000"/>
                </a:solidFill>
                <a:highlight>
                  <a:srgbClr val="FFFFFF"/>
                </a:highlight>
                <a:latin typeface="Consolas"/>
              </a:rPr>
              <a:t>    }</a:t>
            </a:r>
          </a:p>
          <a:p>
            <a:endParaRPr lang="en-GB" sz="1100" dirty="0">
              <a:solidFill>
                <a:srgbClr val="000000"/>
              </a:solidFill>
              <a:highlight>
                <a:srgbClr val="FFFFFF"/>
              </a:highlight>
              <a:latin typeface="Consolas"/>
            </a:endParaRPr>
          </a:p>
        </p:txBody>
      </p:sp>
      <p:sp>
        <p:nvSpPr>
          <p:cNvPr id="4" name="Rektangel 3"/>
          <p:cNvSpPr/>
          <p:nvPr/>
        </p:nvSpPr>
        <p:spPr>
          <a:xfrm>
            <a:off x="5868144" y="2118041"/>
            <a:ext cx="2736304" cy="93610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a-DK" sz="2000" smtClean="0">
                <a:solidFill>
                  <a:schemeClr val="tx1"/>
                </a:solidFill>
              </a:rPr>
              <a:t>Then injection</a:t>
            </a:r>
            <a:endParaRPr lang="da-DK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87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9" name="Content Placeholder 4"/>
          <p:cNvSpPr txBox="1">
            <a:spLocks/>
          </p:cNvSpPr>
          <p:nvPr/>
        </p:nvSpPr>
        <p:spPr>
          <a:xfrm>
            <a:off x="457200" y="1412776"/>
            <a:ext cx="8229600" cy="151216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294E92"/>
              </a:buClr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A sensible design is required for testability</a:t>
            </a:r>
          </a:p>
          <a:p>
            <a:endParaRPr lang="en-US" dirty="0"/>
          </a:p>
          <a:p>
            <a:r>
              <a:rPr lang="en-US" dirty="0" smtClean="0"/>
              <a:t>Primary concern</a:t>
            </a:r>
            <a:r>
              <a:rPr lang="en-US" smtClean="0"/>
              <a:t>: </a:t>
            </a:r>
          </a:p>
          <a:p>
            <a:pPr lvl="1"/>
            <a:r>
              <a:rPr lang="en-US" smtClean="0"/>
              <a:t>Dependencies = Loss of control</a:t>
            </a:r>
          </a:p>
          <a:p>
            <a:r>
              <a:rPr lang="en-US" smtClean="0"/>
              <a:t>Other concern: </a:t>
            </a:r>
          </a:p>
          <a:p>
            <a:pPr lvl="1"/>
            <a:r>
              <a:rPr lang="en-US" smtClean="0"/>
              <a:t>Dependencies = Errors cannot be located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Gain control by designing for loose coupling -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i="1" smtClean="0"/>
              <a:t>Identify</a:t>
            </a:r>
            <a:r>
              <a:rPr lang="en-US" smtClean="0"/>
              <a:t> the </a:t>
            </a:r>
            <a:r>
              <a:rPr lang="en-US" dirty="0" smtClean="0"/>
              <a:t>dependency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 smtClean="0"/>
              <a:t>Introduce an </a:t>
            </a:r>
            <a:r>
              <a:rPr lang="en-US" i="1" dirty="0" smtClean="0"/>
              <a:t>interface </a:t>
            </a:r>
            <a:r>
              <a:rPr lang="en-US" dirty="0" smtClean="0"/>
              <a:t>(seam</a:t>
            </a:r>
            <a:r>
              <a:rPr lang="en-US" i="1" dirty="0" smtClean="0"/>
              <a:t>)</a:t>
            </a:r>
            <a:r>
              <a:rPr lang="en-US" dirty="0" smtClean="0"/>
              <a:t> for the dependency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i="1" dirty="0" smtClean="0"/>
              <a:t>Inject the </a:t>
            </a:r>
            <a:r>
              <a:rPr lang="en-US" dirty="0" smtClean="0"/>
              <a:t>dependency</a:t>
            </a:r>
          </a:p>
          <a:p>
            <a:pPr marL="514350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44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smtClean="0"/>
              <a:t>Design principles and patterns for</a:t>
            </a:r>
            <a:br>
              <a:rPr lang="da-DK" dirty="0" smtClean="0"/>
            </a:br>
            <a:r>
              <a:rPr lang="da-DK" dirty="0" smtClean="0"/>
              <a:t>Design for </a:t>
            </a:r>
            <a:r>
              <a:rPr lang="da-DK" dirty="0" err="1" smtClean="0"/>
              <a:t>Testability</a:t>
            </a:r>
            <a:endParaRPr lang="da-DK" dirty="0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a-DK" dirty="0" smtClean="0"/>
              <a:t>Low </a:t>
            </a:r>
            <a:r>
              <a:rPr lang="da-DK" dirty="0" err="1" smtClean="0"/>
              <a:t>coupling</a:t>
            </a:r>
            <a:endParaRPr lang="da-DK" dirty="0" smtClean="0"/>
          </a:p>
          <a:p>
            <a:pPr lvl="1"/>
            <a:r>
              <a:rPr lang="da-DK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III</a:t>
            </a:r>
            <a:r>
              <a:rPr lang="da-DK" dirty="0" smtClean="0"/>
              <a:t> – design with interfaces</a:t>
            </a:r>
          </a:p>
          <a:p>
            <a:pPr lvl="1"/>
            <a:r>
              <a:rPr lang="da-DK" dirty="0" err="1" smtClean="0"/>
              <a:t>Use</a:t>
            </a:r>
            <a:r>
              <a:rPr lang="da-DK" dirty="0" smtClean="0"/>
              <a:t> Observer Pattern</a:t>
            </a:r>
          </a:p>
          <a:p>
            <a:pPr lvl="2"/>
            <a:r>
              <a:rPr lang="da-DK" dirty="0" smtClean="0"/>
              <a:t>In C# </a:t>
            </a:r>
            <a:r>
              <a:rPr lang="da-DK" dirty="0" err="1" smtClean="0"/>
              <a:t>this</a:t>
            </a:r>
            <a:r>
              <a:rPr lang="da-DK" dirty="0" smtClean="0"/>
              <a:t> is </a:t>
            </a:r>
            <a:r>
              <a:rPr lang="da-DK" dirty="0" err="1" smtClean="0"/>
              <a:t>normally</a:t>
            </a:r>
            <a:r>
              <a:rPr lang="da-DK" dirty="0" smtClean="0"/>
              <a:t> done with C# </a:t>
            </a:r>
            <a:r>
              <a:rPr lang="da-DK" dirty="0" smtClean="0">
                <a:latin typeface="Consolas" panose="020B0609020204030204" pitchFamily="49" charset="0"/>
              </a:rPr>
              <a:t>event</a:t>
            </a:r>
            <a:r>
              <a:rPr lang="da-DK" dirty="0" smtClean="0"/>
              <a:t>s and </a:t>
            </a:r>
            <a:r>
              <a:rPr lang="da-DK" dirty="0" smtClean="0">
                <a:latin typeface="Consolas" panose="020B0609020204030204" pitchFamily="49" charset="0"/>
              </a:rPr>
              <a:t>delegate</a:t>
            </a:r>
            <a:r>
              <a:rPr lang="da-DK" dirty="0" smtClean="0"/>
              <a:t>s</a:t>
            </a:r>
          </a:p>
          <a:p>
            <a:pPr lvl="1"/>
            <a:r>
              <a:rPr lang="da-DK" dirty="0" err="1" smtClean="0"/>
              <a:t>Use</a:t>
            </a:r>
            <a:r>
              <a:rPr lang="da-DK" dirty="0" smtClean="0"/>
              <a:t> </a:t>
            </a:r>
            <a:r>
              <a:rPr lang="da-DK" dirty="0" err="1" smtClean="0">
                <a:latin typeface="Consolas" panose="020B0609020204030204" pitchFamily="49" charset="0"/>
              </a:rPr>
              <a:t>Exception</a:t>
            </a:r>
            <a:r>
              <a:rPr lang="da-DK" dirty="0" err="1" smtClean="0"/>
              <a:t>s</a:t>
            </a:r>
            <a:r>
              <a:rPr lang="da-DK" dirty="0" smtClean="0"/>
              <a:t> (but not for normal </a:t>
            </a:r>
            <a:r>
              <a:rPr lang="da-DK" dirty="0" err="1" smtClean="0"/>
              <a:t>return</a:t>
            </a:r>
            <a:r>
              <a:rPr lang="da-DK" dirty="0" smtClean="0"/>
              <a:t> of data!)</a:t>
            </a:r>
          </a:p>
          <a:p>
            <a:pPr lvl="1"/>
            <a:endParaRPr lang="da-DK" dirty="0" smtClean="0"/>
          </a:p>
          <a:p>
            <a:r>
              <a:rPr lang="da-DK" dirty="0" smtClean="0"/>
              <a:t>Single </a:t>
            </a:r>
            <a:r>
              <a:rPr lang="da-DK" dirty="0" err="1" smtClean="0"/>
              <a:t>responsibility</a:t>
            </a:r>
            <a:endParaRPr lang="da-DK" dirty="0" smtClean="0"/>
          </a:p>
          <a:p>
            <a:pPr lvl="1"/>
            <a:r>
              <a:rPr lang="da-DK" dirty="0" err="1" smtClean="0"/>
              <a:t>Reduces</a:t>
            </a:r>
            <a:r>
              <a:rPr lang="da-DK" dirty="0" smtClean="0"/>
              <a:t> the </a:t>
            </a:r>
            <a:r>
              <a:rPr lang="da-DK" dirty="0" err="1" smtClean="0"/>
              <a:t>number</a:t>
            </a:r>
            <a:r>
              <a:rPr lang="da-DK" dirty="0" smtClean="0"/>
              <a:t> of </a:t>
            </a:r>
            <a:r>
              <a:rPr lang="da-DK" dirty="0" err="1" smtClean="0"/>
              <a:t>internal</a:t>
            </a:r>
            <a:r>
              <a:rPr lang="da-DK" dirty="0" smtClean="0"/>
              <a:t> </a:t>
            </a:r>
            <a:r>
              <a:rPr lang="da-DK" dirty="0" err="1" smtClean="0"/>
              <a:t>states</a:t>
            </a:r>
            <a:endParaRPr lang="da-DK" dirty="0" smtClean="0"/>
          </a:p>
          <a:p>
            <a:pPr lvl="1"/>
            <a:r>
              <a:rPr lang="da-DK" dirty="0" smtClean="0"/>
              <a:t>Makes the </a:t>
            </a:r>
            <a:r>
              <a:rPr lang="da-DK" dirty="0" err="1" smtClean="0"/>
              <a:t>code</a:t>
            </a:r>
            <a:r>
              <a:rPr lang="da-DK" dirty="0" smtClean="0"/>
              <a:t> </a:t>
            </a:r>
            <a:r>
              <a:rPr lang="da-DK" dirty="0" err="1" smtClean="0"/>
              <a:t>simpler</a:t>
            </a:r>
            <a:r>
              <a:rPr lang="da-DK" dirty="0" smtClean="0"/>
              <a:t>!</a:t>
            </a:r>
          </a:p>
          <a:p>
            <a:pPr lvl="1"/>
            <a:r>
              <a:rPr lang="da-DK" dirty="0" smtClean="0"/>
              <a:t>Makes </a:t>
            </a:r>
            <a:r>
              <a:rPr lang="da-DK" dirty="0" err="1" smtClean="0"/>
              <a:t>testing</a:t>
            </a:r>
            <a:r>
              <a:rPr lang="da-DK" dirty="0" smtClean="0"/>
              <a:t> </a:t>
            </a:r>
            <a:r>
              <a:rPr lang="da-DK" dirty="0" err="1" smtClean="0"/>
              <a:t>simpler</a:t>
            </a:r>
            <a:r>
              <a:rPr lang="da-DK" dirty="0" smtClean="0"/>
              <a:t>!</a:t>
            </a:r>
          </a:p>
          <a:p>
            <a:pPr lvl="1"/>
            <a:r>
              <a:rPr lang="da-DK" dirty="0" err="1" smtClean="0"/>
              <a:t>Refactor</a:t>
            </a:r>
            <a:endParaRPr lang="da-DK" dirty="0" smtClean="0"/>
          </a:p>
          <a:p>
            <a:pPr lvl="2"/>
            <a:r>
              <a:rPr lang="da-DK" dirty="0" err="1" smtClean="0"/>
              <a:t>Use</a:t>
            </a:r>
            <a:r>
              <a:rPr lang="da-DK" dirty="0" smtClean="0"/>
              <a:t> the tests to </a:t>
            </a:r>
            <a:r>
              <a:rPr lang="da-DK" dirty="0" err="1" smtClean="0"/>
              <a:t>ensure</a:t>
            </a:r>
            <a:r>
              <a:rPr lang="da-DK" dirty="0" smtClean="0"/>
              <a:t> </a:t>
            </a:r>
            <a:r>
              <a:rPr lang="da-DK" dirty="0" err="1" smtClean="0"/>
              <a:t>you</a:t>
            </a:r>
            <a:r>
              <a:rPr lang="da-DK" dirty="0" smtClean="0"/>
              <a:t> did it right!</a:t>
            </a:r>
          </a:p>
          <a:p>
            <a:pPr lvl="2"/>
            <a:endParaRPr lang="da-DK" dirty="0" smtClean="0"/>
          </a:p>
          <a:p>
            <a:r>
              <a:rPr lang="da-DK" dirty="0" smtClean="0"/>
              <a:t>See </a:t>
            </a:r>
            <a:r>
              <a:rPr lang="da-DK" dirty="0" err="1" smtClean="0"/>
              <a:t>also</a:t>
            </a:r>
            <a:r>
              <a:rPr lang="da-DK" dirty="0" smtClean="0"/>
              <a:t> </a:t>
            </a:r>
            <a:r>
              <a:rPr lang="da-DK" dirty="0" err="1" smtClean="0"/>
              <a:t>section</a:t>
            </a:r>
            <a:r>
              <a:rPr lang="da-DK" dirty="0" smtClean="0"/>
              <a:t> 11.2 of TAOUT for C# </a:t>
            </a:r>
            <a:r>
              <a:rPr lang="da-DK" dirty="0" err="1" smtClean="0"/>
              <a:t>recommendations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88592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smtClean="0"/>
              <a:t>Symptoms of wrong design</a:t>
            </a:r>
            <a:endParaRPr lang="da-DK"/>
          </a:p>
        </p:txBody>
      </p:sp>
      <p:sp>
        <p:nvSpPr>
          <p:cNvPr id="3" name="Pladsholder til indhol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smtClean="0"/>
              <a:t>How hard is it to write the test?</a:t>
            </a:r>
          </a:p>
          <a:p>
            <a:r>
              <a:rPr lang="da-DK" smtClean="0"/>
              <a:t>If the tests are hard to write, maybe the design is wrong!</a:t>
            </a:r>
          </a:p>
          <a:p>
            <a:r>
              <a:rPr lang="da-DK"/>
              <a:t>The test is the first client – what about the actual final client </a:t>
            </a:r>
            <a:r>
              <a:rPr lang="da-DK" smtClean="0"/>
              <a:t>: </a:t>
            </a:r>
            <a:r>
              <a:rPr lang="da-DK"/>
              <a:t>other finished classes and components?</a:t>
            </a:r>
          </a:p>
          <a:p>
            <a:r>
              <a:rPr lang="da-DK"/>
              <a:t>If the tests are hard to write, it may be hard to use the </a:t>
            </a:r>
            <a:r>
              <a:rPr lang="da-DK" smtClean="0"/>
              <a:t>unit!</a:t>
            </a:r>
          </a:p>
          <a:p>
            <a:endParaRPr lang="da-DK"/>
          </a:p>
          <a:p>
            <a:pPr marL="0" indent="0" algn="ctr">
              <a:buNone/>
            </a:pPr>
            <a:r>
              <a:rPr lang="da-DK" sz="2800" b="1" smtClean="0"/>
              <a:t>Listen to the test</a:t>
            </a:r>
            <a:endParaRPr lang="da-DK" sz="2800" b="1"/>
          </a:p>
          <a:p>
            <a:endParaRPr lang="da-DK" smtClean="0"/>
          </a:p>
        </p:txBody>
      </p:sp>
    </p:spTree>
    <p:extLst>
      <p:ext uri="{BB962C8B-B14F-4D97-AF65-F5344CB8AC3E}">
        <p14:creationId xmlns:p14="http://schemas.microsoft.com/office/powerpoint/2010/main" val="2744713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2.bp.blogspot.com/-qauRD8CM-eI/TVfj5BBwMrI/AAAAAAAAAFU/ufo1QWe3KaY/s1600/questions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724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2446</TotalTime>
  <Words>1697</Words>
  <Application>Microsoft Office PowerPoint</Application>
  <PresentationFormat>On-screen Show (4:3)</PresentationFormat>
  <Paragraphs>342</Paragraphs>
  <Slides>23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AU Passata</vt:lpstr>
      <vt:lpstr>Calibri</vt:lpstr>
      <vt:lpstr>Consolas</vt:lpstr>
      <vt:lpstr>Lucida Console</vt:lpstr>
      <vt:lpstr>Times New Roman</vt:lpstr>
      <vt:lpstr>Wingdings</vt:lpstr>
      <vt:lpstr>Office Theme</vt:lpstr>
      <vt:lpstr>Visio</vt:lpstr>
      <vt:lpstr>Design for Testability</vt:lpstr>
      <vt:lpstr>Discussion – a general problem</vt:lpstr>
      <vt:lpstr>Testing a class</vt:lpstr>
      <vt:lpstr>Design for Testability - dependencies</vt:lpstr>
      <vt:lpstr>Towards controlling dependencies</vt:lpstr>
      <vt:lpstr>1: Identify the dependencies</vt:lpstr>
      <vt:lpstr>2: Interface – Loosen the coupling</vt:lpstr>
      <vt:lpstr>2: Interface – Loosen the coupling</vt:lpstr>
      <vt:lpstr>2: Interface – Loosen the coupling</vt:lpstr>
      <vt:lpstr>2: Interface – Loosen the coupling</vt:lpstr>
      <vt:lpstr>2: Interface – Loosen the coupling Make fakes!</vt:lpstr>
      <vt:lpstr>2: Interface – Loosen the coupling</vt:lpstr>
      <vt:lpstr>3: Inject dependency</vt:lpstr>
      <vt:lpstr>3: Constructor injection</vt:lpstr>
      <vt:lpstr>3: Property injection</vt:lpstr>
      <vt:lpstr>The invisible dependencies!</vt:lpstr>
      <vt:lpstr>Example of uncontrollable external dependencies</vt:lpstr>
      <vt:lpstr>Solving uncontrollable external dependencies</vt:lpstr>
      <vt:lpstr>Solving uncontrollable external dependencies</vt:lpstr>
      <vt:lpstr>Recap</vt:lpstr>
      <vt:lpstr>Design principles and patterns for Design for Testability</vt:lpstr>
      <vt:lpstr>Symptoms of wrong design</vt:lpstr>
      <vt:lpstr>PowerPoint Presentation</vt:lpstr>
    </vt:vector>
  </TitlesOfParts>
  <Company>IHA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tfj@ase.au.dk</dc:creator>
  <cp:lastModifiedBy>Frank Bodholdt Jakobsen</cp:lastModifiedBy>
  <cp:revision>182</cp:revision>
  <dcterms:created xsi:type="dcterms:W3CDTF">2011-04-02T15:06:22Z</dcterms:created>
  <dcterms:modified xsi:type="dcterms:W3CDTF">2021-09-11T08:56:24Z</dcterms:modified>
</cp:coreProperties>
</file>