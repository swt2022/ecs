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60" r:id="rId2"/>
    <p:sldId id="353" r:id="rId3"/>
    <p:sldId id="340" r:id="rId4"/>
    <p:sldId id="342" r:id="rId5"/>
    <p:sldId id="318" r:id="rId6"/>
    <p:sldId id="339" r:id="rId7"/>
    <p:sldId id="343" r:id="rId8"/>
    <p:sldId id="347" r:id="rId9"/>
    <p:sldId id="320" r:id="rId10"/>
    <p:sldId id="349" r:id="rId11"/>
    <p:sldId id="351" r:id="rId12"/>
    <p:sldId id="350" r:id="rId13"/>
    <p:sldId id="326" r:id="rId14"/>
    <p:sldId id="352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4E92"/>
    <a:srgbClr val="FFBE3B"/>
    <a:srgbClr val="FFAE37"/>
    <a:srgbClr val="2E4E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20" d="100"/>
          <a:sy n="120" d="100"/>
        </p:scale>
        <p:origin x="134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-3810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8F2B0B-1F56-4B67-829D-947B6E967EC1}" type="datetimeFigureOut">
              <a:rPr lang="da-DK" smtClean="0"/>
              <a:t>07-02-2020</a:t>
            </a:fld>
            <a:endParaRPr lang="da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FD38B-27AC-4A24-AEFF-D36597AFF07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862773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6E8EB0-8888-4A4E-94F3-14D8E5038AB6}" type="datetimeFigureOut">
              <a:rPr lang="en-US" smtClean="0"/>
              <a:t>2/7/2020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42F7E-C03E-4A75-829B-A53EDB2B7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502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128620589"/>
      </p:ext>
    </p:extLst>
  </p:cSld>
  <p:clrMapOvr>
    <a:masterClrMapping/>
  </p:clrMapOvr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592" y="242892"/>
            <a:ext cx="7383274" cy="1143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4680520"/>
          </a:xfrm>
          <a:prstGeom prst="rect">
            <a:avLst/>
          </a:prstGeom>
        </p:spPr>
        <p:txBody>
          <a:bodyPr/>
          <a:lstStyle>
            <a:lvl1pPr>
              <a:buClr>
                <a:srgbClr val="294E92"/>
              </a:buClr>
              <a:defRPr/>
            </a:lvl1pPr>
            <a:lvl5pPr>
              <a:defRPr/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467544" y="1340768"/>
            <a:ext cx="82089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 userDrawn="1"/>
        </p:nvSpPr>
        <p:spPr>
          <a:xfrm>
            <a:off x="4336729" y="6536377"/>
            <a:ext cx="700833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rtlCol="0">
            <a:spAutoFit/>
          </a:bodyPr>
          <a:lstStyle/>
          <a:p>
            <a:r>
              <a:rPr lang="da-DK" sz="1200" b="0" dirty="0" smtClean="0">
                <a:solidFill>
                  <a:schemeClr val="bg1">
                    <a:lumMod val="50000"/>
                  </a:schemeClr>
                </a:solidFill>
              </a:rPr>
              <a:t>Slide </a:t>
            </a:r>
            <a:fld id="{FABCB2CC-F8B6-45D5-844F-758C0932985B}" type="slidenum">
              <a:rPr lang="en-US" sz="1200" b="0" noProof="0" smtClean="0">
                <a:solidFill>
                  <a:schemeClr val="bg1">
                    <a:lumMod val="50000"/>
                  </a:schemeClr>
                </a:solidFill>
              </a:rPr>
              <a:pPr/>
              <a:t>‹#›</a:t>
            </a:fld>
            <a:endParaRPr lang="da-DK" sz="1200" b="0" dirty="0" err="1" smtClean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719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899592" y="242892"/>
            <a:ext cx="7383274" cy="1143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467544" y="1340768"/>
            <a:ext cx="82089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4608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7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 smtClean="0"/>
              <a:t>Click to edit Master title style</a:t>
            </a:r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dirty="0" smtClean="0"/>
              <a:t>Click to edit Master text styles</a:t>
            </a:r>
          </a:p>
          <a:p>
            <a:pPr lvl="1"/>
            <a:r>
              <a:rPr lang="en-US" noProof="0" dirty="0" smtClean="0"/>
              <a:t>Second level</a:t>
            </a:r>
          </a:p>
          <a:p>
            <a:pPr lvl="2"/>
            <a:r>
              <a:rPr lang="en-US" noProof="0" dirty="0" smtClean="0"/>
              <a:t>Third level</a:t>
            </a:r>
          </a:p>
          <a:p>
            <a:pPr lvl="3"/>
            <a:r>
              <a:rPr lang="en-US" noProof="0" dirty="0" smtClean="0"/>
              <a:t>Fourth level</a:t>
            </a:r>
          </a:p>
          <a:p>
            <a:pPr lvl="4"/>
            <a:r>
              <a:rPr lang="en-US" noProof="0" dirty="0" smtClean="0"/>
              <a:t>Fifth level</a:t>
            </a:r>
            <a:endParaRPr lang="en-US" noProof="0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280" y="6309320"/>
            <a:ext cx="1865487" cy="467150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4336729" y="6536377"/>
            <a:ext cx="700833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rtlCol="0">
            <a:spAutoFit/>
          </a:bodyPr>
          <a:lstStyle/>
          <a:p>
            <a:r>
              <a:rPr lang="da-DK" sz="1200" b="0" dirty="0" smtClean="0">
                <a:solidFill>
                  <a:schemeClr val="bg1">
                    <a:lumMod val="50000"/>
                  </a:schemeClr>
                </a:solidFill>
              </a:rPr>
              <a:t>Slide </a:t>
            </a:r>
            <a:fld id="{FABCB2CC-F8B6-45D5-844F-758C0932985B}" type="slidenum">
              <a:rPr lang="en-US" sz="1200" b="0" noProof="0" smtClean="0">
                <a:solidFill>
                  <a:schemeClr val="bg1">
                    <a:lumMod val="50000"/>
                  </a:schemeClr>
                </a:solidFill>
              </a:rPr>
              <a:pPr/>
              <a:t>‹#›</a:t>
            </a:fld>
            <a:endParaRPr lang="da-DK" sz="1200" b="0" dirty="0" err="1" smtClean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653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AU Passata" panose="020B05030305020308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294E92"/>
        </a:buClr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 smtClean="0"/>
              <a:t>Interfaces</a:t>
            </a:r>
            <a:br>
              <a:rPr lang="da-DK" dirty="0" smtClean="0"/>
            </a:br>
            <a:r>
              <a:rPr lang="da-DK" dirty="0" smtClean="0"/>
              <a:t>In C++ and C#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dirty="0"/>
              <a:t>Software </a:t>
            </a:r>
            <a:r>
              <a:rPr lang="da-DK" dirty="0" smtClean="0"/>
              <a:t>Test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265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smtClean="0"/>
              <a:t>Tags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 err="1" smtClean="0"/>
              <a:t>Inheritance</a:t>
            </a:r>
            <a:endParaRPr lang="da-DK" dirty="0" smtClean="0"/>
          </a:p>
          <a:p>
            <a:r>
              <a:rPr lang="da-DK" dirty="0" err="1" smtClean="0"/>
              <a:t>Polymorfi</a:t>
            </a:r>
            <a:endParaRPr lang="da-DK" dirty="0" smtClean="0"/>
          </a:p>
          <a:p>
            <a:r>
              <a:rPr lang="da-DK" dirty="0" smtClean="0"/>
              <a:t>Abstract </a:t>
            </a:r>
            <a:r>
              <a:rPr lang="da-DK" dirty="0" err="1" smtClean="0"/>
              <a:t>class</a:t>
            </a:r>
            <a:endParaRPr lang="da-DK" dirty="0" smtClean="0"/>
          </a:p>
          <a:p>
            <a:r>
              <a:rPr lang="da-DK" dirty="0" smtClean="0"/>
              <a:t>Interface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5644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Primitive example in C++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934791" y="1628800"/>
            <a:ext cx="3769622" cy="19389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defTabSz="176213"/>
            <a:r>
              <a:rPr lang="da-DK" sz="1200" i="1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Circle.hpp</a:t>
            </a:r>
          </a:p>
          <a:p>
            <a:pPr defTabSz="176213"/>
            <a:r>
              <a:rPr lang="da-DK" sz="1200" dirty="0" err="1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Circle</a:t>
            </a:r>
            <a:endParaRPr lang="da-DK" sz="12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176213"/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defTabSz="176213"/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defTabSz="176213"/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 </a:t>
            </a:r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radius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defTabSz="176213"/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da-DK" sz="1200" dirty="0" err="1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Coord</a:t>
            </a:r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center;</a:t>
            </a:r>
          </a:p>
          <a:p>
            <a:pPr defTabSz="176213"/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defTabSz="176213"/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err="1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setCenter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da-DK" sz="1200" dirty="0" err="1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Coord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c) { center = c;}</a:t>
            </a:r>
          </a:p>
          <a:p>
            <a:pPr defTabSz="176213"/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 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getArea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() { </a:t>
            </a:r>
            <a:r>
              <a:rPr lang="da-DK" sz="1200" dirty="0" err="1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…;	}</a:t>
            </a:r>
          </a:p>
          <a:p>
            <a:pPr defTabSz="176213"/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da-DK" sz="12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95536" y="1628800"/>
            <a:ext cx="3268202" cy="36009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defTabSz="176213"/>
            <a:r>
              <a:rPr lang="da-DK" sz="1200" i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GraphicsApp.hpp</a:t>
            </a:r>
          </a:p>
          <a:p>
            <a:pPr defTabSz="176213"/>
            <a:r>
              <a:rPr lang="da-DK" sz="1200" dirty="0" err="1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GraphicsApp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defTabSz="176213"/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defTabSz="176213"/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private:</a:t>
            </a:r>
          </a:p>
          <a:p>
            <a:pPr defTabSz="176213"/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vector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Circle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&gt; 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circles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da-DK" sz="12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176213"/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public:</a:t>
            </a:r>
          </a:p>
          <a:p>
            <a:pPr defTabSz="176213"/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err="1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AddCircle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Circle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* c)</a:t>
            </a:r>
          </a:p>
          <a:p>
            <a:pPr defTabSz="176213"/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defTabSz="176213"/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  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circles.push_back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(c);</a:t>
            </a:r>
          </a:p>
          <a:p>
            <a:pPr defTabSz="176213"/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</a:p>
          <a:p>
            <a:pPr defTabSz="176213"/>
            <a:endParaRPr lang="da-DK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176213"/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getTotalArea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defTabSz="176213"/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defTabSz="176213"/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da-DK" sz="1200" dirty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area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= 0;</a:t>
            </a:r>
          </a:p>
          <a:p>
            <a:pPr defTabSz="176213"/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(…)	</a:t>
            </a:r>
          </a:p>
          <a:p>
            <a:pPr defTabSz="176213"/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area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+= 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circles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[i]-&gt;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getArea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defTabSz="176213"/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err="1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area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defTabSz="176213"/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</a:p>
          <a:p>
            <a:pPr defTabSz="176213"/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4791" y="4221088"/>
            <a:ext cx="3769622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defTabSz="176213"/>
            <a:r>
              <a:rPr lang="da-DK" sz="1200" i="1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Rectangle.hpp</a:t>
            </a:r>
          </a:p>
          <a:p>
            <a:pPr defTabSz="176213"/>
            <a:r>
              <a:rPr lang="da-DK" sz="1200" dirty="0" err="1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Rectangle</a:t>
            </a:r>
            <a:endParaRPr lang="da-DK" sz="12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176213"/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defTabSz="176213"/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defTabSz="176213"/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da-DK" sz="1200" dirty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 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width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defTabSz="176213"/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 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length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defTabSz="176213"/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da-DK" sz="1200" dirty="0" err="1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Coord</a:t>
            </a:r>
            <a:r>
              <a:rPr lang="da-DK" sz="1200" dirty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center;</a:t>
            </a:r>
          </a:p>
          <a:p>
            <a:pPr defTabSz="176213"/>
            <a:endParaRPr lang="da-DK" sz="12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176213"/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defTabSz="176213"/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err="1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setCenter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da-DK" sz="1200" dirty="0" err="1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Coord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c) { center = c;}</a:t>
            </a:r>
          </a:p>
          <a:p>
            <a:pPr defTabSz="176213"/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 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getArea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() { </a:t>
            </a:r>
            <a:r>
              <a:rPr lang="da-DK" sz="1200" dirty="0" err="1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…;	}</a:t>
            </a:r>
          </a:p>
          <a:p>
            <a:pPr defTabSz="176213"/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da-DK" sz="12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9937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4896544"/>
          </a:xfrm>
        </p:spPr>
        <p:txBody>
          <a:bodyPr>
            <a:normAutofit lnSpcReduction="10000"/>
          </a:bodyPr>
          <a:lstStyle/>
          <a:p>
            <a:r>
              <a:rPr lang="en-US" sz="2400" dirty="0" smtClean="0"/>
              <a:t>The </a:t>
            </a:r>
            <a:r>
              <a:rPr lang="en-US" sz="1800" dirty="0" err="1" smtClean="0">
                <a:latin typeface="Consolas" panose="020B0609020204030204" pitchFamily="49" charset="0"/>
              </a:rPr>
              <a:t>GraphicsApp</a:t>
            </a:r>
            <a:r>
              <a:rPr lang="en-US" sz="2400" dirty="0" smtClean="0"/>
              <a:t> really does not care if the shapes are of a </a:t>
            </a:r>
            <a:r>
              <a:rPr lang="en-US" sz="2400" i="1" dirty="0" smtClean="0"/>
              <a:t>particular implementation</a:t>
            </a:r>
          </a:p>
          <a:p>
            <a:pPr lvl="1"/>
            <a:r>
              <a:rPr lang="en-US" sz="1800" dirty="0">
                <a:latin typeface="Consolas" panose="020B0609020204030204" pitchFamily="49" charset="0"/>
              </a:rPr>
              <a:t>Circle</a:t>
            </a:r>
            <a:r>
              <a:rPr lang="en-US" sz="2000" dirty="0" smtClean="0"/>
              <a:t>, </a:t>
            </a:r>
            <a:r>
              <a:rPr lang="en-US" sz="1800" dirty="0">
                <a:latin typeface="Consolas" panose="020B0609020204030204" pitchFamily="49" charset="0"/>
              </a:rPr>
              <a:t>Rectangle</a:t>
            </a:r>
            <a:r>
              <a:rPr lang="en-US" sz="2000" dirty="0" smtClean="0"/>
              <a:t>, etc.</a:t>
            </a:r>
          </a:p>
          <a:p>
            <a:endParaRPr lang="en-US" sz="2400" dirty="0" smtClean="0"/>
          </a:p>
          <a:p>
            <a:r>
              <a:rPr lang="en-US" sz="2400" dirty="0" smtClean="0"/>
              <a:t>They only care about what they</a:t>
            </a:r>
            <a:br>
              <a:rPr lang="en-US" sz="2400" dirty="0" smtClean="0"/>
            </a:br>
            <a:r>
              <a:rPr lang="en-US" sz="2400" dirty="0" smtClean="0"/>
              <a:t> can </a:t>
            </a:r>
            <a:r>
              <a:rPr lang="en-US" sz="2400" i="1" dirty="0" smtClean="0"/>
              <a:t>do</a:t>
            </a:r>
            <a:r>
              <a:rPr lang="en-US" sz="2400" dirty="0" smtClean="0"/>
              <a:t> with them</a:t>
            </a:r>
          </a:p>
          <a:p>
            <a:pPr lvl="1"/>
            <a:r>
              <a:rPr lang="en-US" sz="2000" dirty="0" smtClean="0"/>
              <a:t>Get the area, set the center, etc.</a:t>
            </a:r>
          </a:p>
          <a:p>
            <a:endParaRPr lang="en-US" sz="2800" dirty="0" smtClean="0"/>
          </a:p>
          <a:p>
            <a:endParaRPr lang="en-US" sz="2800" dirty="0"/>
          </a:p>
          <a:p>
            <a:r>
              <a:rPr lang="en-US" sz="2400" dirty="0" smtClean="0"/>
              <a:t>So, by using the shapes’ </a:t>
            </a:r>
            <a:r>
              <a:rPr lang="en-US" sz="2400" i="1" dirty="0" smtClean="0"/>
              <a:t>interface</a:t>
            </a:r>
            <a:r>
              <a:rPr lang="en-US" sz="2400" dirty="0" smtClean="0"/>
              <a:t> instead of their </a:t>
            </a:r>
            <a:r>
              <a:rPr lang="en-US" sz="2400" i="1" dirty="0" smtClean="0"/>
              <a:t>implementation</a:t>
            </a:r>
            <a:r>
              <a:rPr lang="en-US" sz="2400" dirty="0" smtClean="0"/>
              <a:t>, we can lower the coupling between client and dependency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52120" y="2060848"/>
            <a:ext cx="3027752" cy="297004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defTabSz="176213"/>
            <a:r>
              <a:rPr lang="da-DK" sz="1100" i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GraphicsApp.hpp</a:t>
            </a:r>
          </a:p>
          <a:p>
            <a:pPr defTabSz="176213"/>
            <a:r>
              <a:rPr lang="da-DK" sz="1100" dirty="0" err="1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da-DK" sz="11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1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GraphicsApp</a:t>
            </a:r>
            <a:r>
              <a:rPr lang="da-DK" sz="1100" dirty="0" smtClean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defTabSz="176213"/>
            <a:r>
              <a:rPr lang="da-DK" sz="1100" dirty="0" smtClean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defTabSz="176213"/>
            <a:r>
              <a:rPr lang="da-DK" sz="1100" dirty="0" smtClean="0">
                <a:latin typeface="Consolas" panose="020B0609020204030204" pitchFamily="49" charset="0"/>
                <a:cs typeface="Consolas" panose="020B0609020204030204" pitchFamily="49" charset="0"/>
              </a:rPr>
              <a:t>public:</a:t>
            </a:r>
          </a:p>
          <a:p>
            <a:pPr defTabSz="176213"/>
            <a:r>
              <a:rPr lang="da-DK" sz="11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100" dirty="0" err="1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da-DK" sz="11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1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AddCircle</a:t>
            </a:r>
            <a:r>
              <a:rPr lang="da-DK" sz="1100" dirty="0" smtClean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da-DK" sz="11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Circle</a:t>
            </a:r>
            <a:r>
              <a:rPr lang="da-DK" sz="1100" dirty="0" smtClean="0">
                <a:latin typeface="Consolas" panose="020B0609020204030204" pitchFamily="49" charset="0"/>
                <a:cs typeface="Consolas" panose="020B0609020204030204" pitchFamily="49" charset="0"/>
              </a:rPr>
              <a:t>* c)</a:t>
            </a:r>
          </a:p>
          <a:p>
            <a:pPr defTabSz="176213"/>
            <a:r>
              <a:rPr lang="da-DK" sz="11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100" dirty="0" smtClean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defTabSz="176213"/>
            <a:r>
              <a:rPr lang="da-DK" sz="11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  </a:t>
            </a:r>
            <a:r>
              <a:rPr lang="da-DK" sz="11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circles.push_back</a:t>
            </a:r>
            <a:r>
              <a:rPr lang="da-DK" sz="1100" dirty="0" smtClean="0">
                <a:latin typeface="Consolas" panose="020B0609020204030204" pitchFamily="49" charset="0"/>
                <a:cs typeface="Consolas" panose="020B0609020204030204" pitchFamily="49" charset="0"/>
              </a:rPr>
              <a:t>(c);</a:t>
            </a:r>
          </a:p>
          <a:p>
            <a:pPr defTabSz="176213"/>
            <a:r>
              <a:rPr lang="da-DK" sz="11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</a:p>
          <a:p>
            <a:pPr defTabSz="176213"/>
            <a:endParaRPr lang="da-DK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176213"/>
            <a:r>
              <a:rPr lang="da-DK" sz="11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100" dirty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da-DK" sz="11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1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getTotalArea</a:t>
            </a:r>
            <a:r>
              <a:rPr lang="da-DK" sz="1100" dirty="0" smtClean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defTabSz="176213"/>
            <a:r>
              <a:rPr lang="da-DK" sz="11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100" dirty="0" smtClean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defTabSz="176213"/>
            <a:r>
              <a:rPr lang="da-DK" sz="1100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da-DK" sz="1100" dirty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da-DK" sz="11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1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area</a:t>
            </a:r>
            <a:r>
              <a:rPr lang="da-DK" sz="11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= 0;</a:t>
            </a:r>
          </a:p>
          <a:p>
            <a:pPr defTabSz="176213"/>
            <a:r>
              <a:rPr lang="da-DK" sz="11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1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100" dirty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da-DK" sz="1100" dirty="0" smtClean="0">
                <a:latin typeface="Consolas" panose="020B0609020204030204" pitchFamily="49" charset="0"/>
                <a:cs typeface="Consolas" panose="020B0609020204030204" pitchFamily="49" charset="0"/>
              </a:rPr>
              <a:t>(…)	</a:t>
            </a:r>
          </a:p>
          <a:p>
            <a:pPr defTabSz="176213"/>
            <a:r>
              <a:rPr lang="da-DK" sz="11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1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da-DK" sz="11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area</a:t>
            </a:r>
            <a:r>
              <a:rPr lang="da-DK" sz="11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+= </a:t>
            </a:r>
            <a:r>
              <a:rPr lang="da-DK" sz="11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circles</a:t>
            </a:r>
            <a:r>
              <a:rPr lang="da-DK" sz="1100" dirty="0" smtClean="0">
                <a:latin typeface="Consolas" panose="020B0609020204030204" pitchFamily="49" charset="0"/>
                <a:cs typeface="Consolas" panose="020B0609020204030204" pitchFamily="49" charset="0"/>
              </a:rPr>
              <a:t>[i]-&gt;</a:t>
            </a:r>
            <a:r>
              <a:rPr lang="da-DK" sz="11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getArea</a:t>
            </a:r>
            <a:r>
              <a:rPr lang="da-DK" sz="1100" dirty="0" smtClean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defTabSz="176213"/>
            <a:r>
              <a:rPr lang="da-DK" sz="11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1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100" dirty="0" err="1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da-DK" sz="11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1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area</a:t>
            </a:r>
            <a:r>
              <a:rPr lang="da-DK" sz="1100" dirty="0" smtClean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defTabSz="176213"/>
            <a:r>
              <a:rPr lang="da-DK" sz="11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</a:p>
          <a:p>
            <a:pPr defTabSz="176213"/>
            <a:r>
              <a:rPr lang="da-DK" sz="1100" dirty="0" smtClean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899592" y="242892"/>
            <a:ext cx="7383274" cy="1143000"/>
          </a:xfrm>
        </p:spPr>
        <p:txBody>
          <a:bodyPr>
            <a:normAutofit/>
          </a:bodyPr>
          <a:lstStyle/>
          <a:p>
            <a:r>
              <a:rPr lang="en-US" dirty="0" err="1" smtClean="0"/>
              <a:t>Polymorphy</a:t>
            </a:r>
            <a:r>
              <a:rPr lang="en-US" dirty="0" smtClean="0"/>
              <a:t> should be used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627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1484784"/>
            <a:ext cx="8229600" cy="11521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294E92"/>
              </a:buClr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In C</a:t>
            </a:r>
            <a:r>
              <a:rPr lang="en-US" sz="2400" dirty="0" smtClean="0"/>
              <a:t>++, we can use </a:t>
            </a:r>
            <a:r>
              <a:rPr lang="en-US" sz="2400" i="1" dirty="0"/>
              <a:t>abstract classes </a:t>
            </a:r>
            <a:r>
              <a:rPr lang="en-US" sz="2400" dirty="0" smtClean="0"/>
              <a:t>to define classes </a:t>
            </a:r>
            <a:r>
              <a:rPr lang="en-US" sz="2400" dirty="0"/>
              <a:t>without any data or </a:t>
            </a:r>
            <a:r>
              <a:rPr lang="en-US" sz="2400" dirty="0" smtClean="0"/>
              <a:t>code - what’s </a:t>
            </a:r>
            <a:r>
              <a:rPr lang="en-US" sz="2400" dirty="0"/>
              <a:t>their </a:t>
            </a:r>
            <a:r>
              <a:rPr lang="en-US" sz="2400" dirty="0" smtClean="0"/>
              <a:t>use?</a:t>
            </a:r>
            <a:endParaRPr 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5076056" y="3203684"/>
            <a:ext cx="3429785" cy="13849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defTabSz="176213"/>
            <a:r>
              <a:rPr lang="da-DK" sz="1200" i="1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IShape.hpp</a:t>
            </a:r>
          </a:p>
          <a:p>
            <a:pPr defTabSz="176213"/>
            <a:r>
              <a:rPr lang="da-DK" sz="1200" dirty="0" err="1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Shape</a:t>
            </a:r>
            <a:endParaRPr lang="da-DK" sz="12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176213"/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defTabSz="176213"/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defTabSz="176213"/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virtual </a:t>
            </a:r>
            <a:r>
              <a:rPr lang="da-DK" sz="1200" dirty="0" err="1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setCenter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da-DK" sz="1200" dirty="0" err="1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Coord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c)=0;</a:t>
            </a:r>
          </a:p>
          <a:p>
            <a:pPr defTabSz="176213"/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virtual double 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getArea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()=0;</a:t>
            </a:r>
          </a:p>
          <a:p>
            <a:pPr defTabSz="176213"/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da-DK" sz="12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899592" y="242892"/>
            <a:ext cx="7383274" cy="1143000"/>
          </a:xfrm>
        </p:spPr>
        <p:txBody>
          <a:bodyPr/>
          <a:lstStyle/>
          <a:p>
            <a:r>
              <a:rPr lang="en-US" dirty="0" smtClean="0"/>
              <a:t>Interfaces – what’s the fuss?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57200" y="3563724"/>
            <a:ext cx="3769622" cy="19389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defTabSz="176213"/>
            <a:r>
              <a:rPr lang="da-DK" sz="1200" i="1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Circle.hpp</a:t>
            </a:r>
          </a:p>
          <a:p>
            <a:pPr defTabSz="176213"/>
            <a:r>
              <a:rPr lang="da-DK" sz="1200" dirty="0" err="1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Circle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: </a:t>
            </a:r>
            <a:r>
              <a:rPr lang="da-DK" sz="1200" dirty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IShape</a:t>
            </a:r>
            <a:endParaRPr lang="da-DK" sz="12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176213"/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defTabSz="176213"/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defTabSz="176213"/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 </a:t>
            </a:r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radius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defTabSz="176213"/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da-DK" sz="1200" dirty="0" err="1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Coord</a:t>
            </a:r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center;</a:t>
            </a:r>
          </a:p>
          <a:p>
            <a:pPr defTabSz="176213"/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defTabSz="176213"/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err="1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setCenter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da-DK" sz="1200" dirty="0" err="1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Coord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c) { center = c;}</a:t>
            </a:r>
          </a:p>
          <a:p>
            <a:pPr defTabSz="176213"/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 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getArea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() { </a:t>
            </a:r>
            <a:r>
              <a:rPr lang="da-DK" sz="1200" dirty="0" err="1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…;	}</a:t>
            </a:r>
          </a:p>
          <a:p>
            <a:pPr defTabSz="176213"/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da-DK" sz="12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63888" y="5651956"/>
            <a:ext cx="3812390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da-DK" sz="16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IShape</a:t>
            </a:r>
            <a:r>
              <a:rPr lang="da-DK" dirty="0" smtClean="0"/>
              <a:t> </a:t>
            </a:r>
            <a:r>
              <a:rPr lang="da-DK" dirty="0" err="1" smtClean="0"/>
              <a:t>defines</a:t>
            </a:r>
            <a:r>
              <a:rPr lang="da-DK" dirty="0" smtClean="0"/>
              <a:t> the </a:t>
            </a:r>
            <a:r>
              <a:rPr lang="da-DK" i="1" dirty="0" smtClean="0"/>
              <a:t>interface </a:t>
            </a:r>
            <a:r>
              <a:rPr lang="da-DK" dirty="0" smtClean="0"/>
              <a:t>of </a:t>
            </a:r>
            <a:r>
              <a:rPr lang="da-DK" sz="16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Circle</a:t>
            </a:r>
            <a:endParaRPr lang="da-DK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3" name="Straight Arrow Connector 12"/>
          <p:cNvCxnSpPr>
            <a:endCxn id="7" idx="2"/>
          </p:cNvCxnSpPr>
          <p:nvPr/>
        </p:nvCxnSpPr>
        <p:spPr>
          <a:xfrm flipV="1">
            <a:off x="6588224" y="4588679"/>
            <a:ext cx="202725" cy="106327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80238" y="2915652"/>
            <a:ext cx="2869183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da-DK" sz="16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Circle</a:t>
            </a:r>
            <a:r>
              <a:rPr lang="da-DK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i="1" dirty="0" err="1"/>
              <a:t>implements</a:t>
            </a:r>
            <a:r>
              <a:rPr lang="da-DK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6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IShape</a:t>
            </a:r>
            <a:endParaRPr lang="da-DK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 flipH="1">
            <a:off x="2699793" y="3284984"/>
            <a:ext cx="324813" cy="49476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9107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934791" y="3717032"/>
            <a:ext cx="3769622" cy="19389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defTabSz="176213"/>
            <a:r>
              <a:rPr lang="da-DK" sz="1200" i="1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Circle.hpp</a:t>
            </a:r>
          </a:p>
          <a:p>
            <a:pPr defTabSz="176213"/>
            <a:r>
              <a:rPr lang="da-DK" sz="1200" dirty="0" err="1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Circle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: </a:t>
            </a:r>
            <a:r>
              <a:rPr lang="da-DK" sz="1200" dirty="0" smtClean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 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IShape</a:t>
            </a:r>
            <a:endParaRPr lang="da-DK" sz="12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176213"/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defTabSz="176213"/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defTabSz="176213"/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 </a:t>
            </a:r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radius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defTabSz="176213"/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da-DK" sz="1200" dirty="0" err="1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Coord</a:t>
            </a:r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center;</a:t>
            </a:r>
          </a:p>
          <a:p>
            <a:pPr defTabSz="176213"/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defTabSz="176213"/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err="1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setCenter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da-DK" sz="1200" dirty="0" err="1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Coord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c) { center = c;}</a:t>
            </a:r>
          </a:p>
          <a:p>
            <a:pPr defTabSz="176213"/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 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getArea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() { </a:t>
            </a:r>
            <a:r>
              <a:rPr lang="da-DK" sz="1200" dirty="0" err="1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…;	}</a:t>
            </a:r>
          </a:p>
          <a:p>
            <a:pPr defTabSz="176213"/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da-DK" sz="12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913902" y="1628800"/>
            <a:ext cx="3599703" cy="13849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defTabSz="176213"/>
            <a:r>
              <a:rPr lang="da-DK" sz="1200" i="1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Shape.hpp</a:t>
            </a:r>
          </a:p>
          <a:p>
            <a:pPr defTabSz="176213"/>
            <a:r>
              <a:rPr lang="da-DK" sz="1200" dirty="0" err="1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Shape</a:t>
            </a:r>
            <a:endParaRPr lang="da-DK" sz="12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176213"/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defTabSz="176213"/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defTabSz="176213"/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virtual </a:t>
            </a:r>
            <a:r>
              <a:rPr lang="da-DK" sz="1200" dirty="0" err="1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setCenter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da-DK" sz="1200" dirty="0" err="1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Coord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c) = 0;</a:t>
            </a:r>
          </a:p>
          <a:p>
            <a:pPr defTabSz="176213"/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virtual double 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getArea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() = 0;</a:t>
            </a:r>
          </a:p>
          <a:p>
            <a:pPr defTabSz="176213"/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da-DK" sz="12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95536" y="1628800"/>
            <a:ext cx="3240360" cy="32316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defTabSz="176213"/>
            <a:r>
              <a:rPr lang="da-DK" sz="1200" i="1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GraphicsApp.hpp</a:t>
            </a:r>
          </a:p>
          <a:p>
            <a:pPr defTabSz="176213"/>
            <a:r>
              <a:rPr lang="da-DK" sz="1200" dirty="0" err="1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GraphicsApp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defTabSz="176213"/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defTabSz="176213"/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public:</a:t>
            </a:r>
          </a:p>
          <a:p>
            <a:pPr defTabSz="176213"/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err="1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AddShape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IShape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* c)</a:t>
            </a:r>
          </a:p>
          <a:p>
            <a:pPr defTabSz="176213"/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defTabSz="176213"/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  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shapes.push_back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(c);</a:t>
            </a:r>
          </a:p>
          <a:p>
            <a:pPr defTabSz="176213"/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</a:p>
          <a:p>
            <a:pPr defTabSz="176213"/>
            <a:endParaRPr lang="da-DK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176213"/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getTotalArea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defTabSz="176213"/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defTabSz="176213"/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da-DK" sz="1200" dirty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area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= 0;</a:t>
            </a:r>
          </a:p>
          <a:p>
            <a:pPr defTabSz="176213"/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(…)	</a:t>
            </a:r>
          </a:p>
          <a:p>
            <a:pPr defTabSz="176213"/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area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+= 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shapes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[i]-&gt;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getArea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defTabSz="176213"/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err="1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area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defTabSz="176213"/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</a:p>
          <a:p>
            <a:pPr defTabSz="176213"/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48064" y="4221088"/>
            <a:ext cx="3769622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defTabSz="176213"/>
            <a:r>
              <a:rPr lang="da-DK" sz="1200" i="1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Rectangle.hpp</a:t>
            </a:r>
          </a:p>
          <a:p>
            <a:pPr defTabSz="176213"/>
            <a:r>
              <a:rPr lang="da-DK" sz="1200" dirty="0" err="1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Rectangle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: </a:t>
            </a:r>
            <a:r>
              <a:rPr lang="da-DK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IShape</a:t>
            </a:r>
            <a:endParaRPr lang="da-DK" sz="12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176213"/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defTabSz="176213"/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defTabSz="176213"/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da-DK" sz="1200" dirty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 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width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defTabSz="176213"/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 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length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defTabSz="176213"/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da-DK" sz="1200" dirty="0" err="1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Coord</a:t>
            </a:r>
            <a:r>
              <a:rPr lang="da-DK" sz="1200" dirty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center;</a:t>
            </a:r>
          </a:p>
          <a:p>
            <a:pPr defTabSz="176213"/>
            <a:endParaRPr lang="da-DK" sz="12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176213"/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defTabSz="176213"/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err="1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setCenter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da-DK" sz="1200" dirty="0" err="1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Coord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c) { center = c;}</a:t>
            </a:r>
          </a:p>
          <a:p>
            <a:pPr defTabSz="176213"/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 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getArea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() { </a:t>
            </a:r>
            <a:r>
              <a:rPr lang="da-DK" sz="1200" dirty="0" err="1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…;	}</a:t>
            </a:r>
          </a:p>
          <a:p>
            <a:pPr defTabSz="176213"/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da-DK" sz="12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899592" y="242892"/>
            <a:ext cx="7383274" cy="1143000"/>
          </a:xfrm>
        </p:spPr>
        <p:txBody>
          <a:bodyPr/>
          <a:lstStyle/>
          <a:p>
            <a:r>
              <a:rPr lang="en-US" dirty="0" smtClean="0"/>
              <a:t>Interfaces to the rescue!</a:t>
            </a: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1907704" y="2636912"/>
            <a:ext cx="43204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5580112" y="2060848"/>
            <a:ext cx="43204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7380312" y="4673183"/>
            <a:ext cx="43204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926537" y="4149080"/>
            <a:ext cx="43204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33557" y="5602892"/>
            <a:ext cx="2877711" cy="3385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da-DK" sz="16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Polymorphy</a:t>
            </a:r>
            <a:r>
              <a:rPr lang="da-DK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kicks in </a:t>
            </a:r>
            <a:r>
              <a:rPr lang="da-DK" sz="16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here</a:t>
            </a:r>
            <a:endParaRPr lang="da-DK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2015716" y="4293096"/>
            <a:ext cx="540060" cy="13097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69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1484784"/>
            <a:ext cx="8229600" cy="1718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294E92"/>
              </a:buClr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/>
              <a:t>Basically, implementing an interface is like signing a </a:t>
            </a:r>
            <a:r>
              <a:rPr lang="en-US" sz="2400" i="1" dirty="0" smtClean="0"/>
              <a:t>contract</a:t>
            </a:r>
            <a:r>
              <a:rPr lang="en-US" sz="2400" dirty="0" smtClean="0"/>
              <a:t>: “I promise to implement…”</a:t>
            </a:r>
          </a:p>
          <a:p>
            <a:r>
              <a:rPr lang="en-US" sz="2400" dirty="0" smtClean="0"/>
              <a:t>When this promise is fulfilled, the </a:t>
            </a:r>
            <a:r>
              <a:rPr lang="en-US" sz="2400" dirty="0" err="1" smtClean="0"/>
              <a:t>implementor</a:t>
            </a:r>
            <a:r>
              <a:rPr lang="en-US" sz="2400" dirty="0" smtClean="0"/>
              <a:t> (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Circle</a:t>
            </a:r>
            <a:r>
              <a:rPr lang="en-US" sz="2400" dirty="0" smtClean="0"/>
              <a:t>) can be used </a:t>
            </a:r>
            <a:r>
              <a:rPr lang="en-US" sz="2400" i="1" dirty="0" smtClean="0"/>
              <a:t>anywhere </a:t>
            </a:r>
            <a:r>
              <a:rPr lang="en-US" sz="2400" dirty="0" smtClean="0"/>
              <a:t>the interface type </a:t>
            </a:r>
            <a:r>
              <a:rPr lang="en-US" sz="2800" dirty="0" smtClean="0"/>
              <a:t>(</a:t>
            </a:r>
            <a:r>
              <a:rPr lang="en-US" sz="24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IShape</a:t>
            </a:r>
            <a:r>
              <a:rPr lang="en-US" sz="2800" dirty="0" smtClean="0"/>
              <a:t>) </a:t>
            </a:r>
            <a:r>
              <a:rPr lang="en-US" sz="2400" dirty="0" smtClean="0"/>
              <a:t>is referenced.</a:t>
            </a:r>
            <a:endParaRPr 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5076056" y="3429000"/>
            <a:ext cx="3429785" cy="13849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defTabSz="176213"/>
            <a:r>
              <a:rPr lang="da-DK" sz="1200" i="1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Shape.hpp</a:t>
            </a:r>
          </a:p>
          <a:p>
            <a:pPr defTabSz="176213"/>
            <a:r>
              <a:rPr lang="da-DK" sz="1200" dirty="0" err="1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Shape</a:t>
            </a:r>
            <a:endParaRPr lang="da-DK" sz="12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176213"/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defTabSz="176213"/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defTabSz="176213"/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virtual </a:t>
            </a:r>
            <a:r>
              <a:rPr lang="da-DK" sz="1200" dirty="0" err="1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setCenter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da-DK" sz="1200" dirty="0" err="1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Coord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c)=0;</a:t>
            </a:r>
          </a:p>
          <a:p>
            <a:pPr defTabSz="176213"/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virtual double 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getArea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()=0;</a:t>
            </a:r>
          </a:p>
          <a:p>
            <a:pPr defTabSz="176213"/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da-DK" sz="12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899592" y="242892"/>
            <a:ext cx="7383274" cy="1143000"/>
          </a:xfrm>
        </p:spPr>
        <p:txBody>
          <a:bodyPr/>
          <a:lstStyle/>
          <a:p>
            <a:r>
              <a:rPr lang="en-US" dirty="0" smtClean="0"/>
              <a:t>Interfaces in a nutshell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57200" y="3789040"/>
            <a:ext cx="3769622" cy="19389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defTabSz="176213"/>
            <a:r>
              <a:rPr lang="da-DK" sz="1200" i="1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Circle.hpp</a:t>
            </a:r>
          </a:p>
          <a:p>
            <a:pPr defTabSz="176213"/>
            <a:r>
              <a:rPr lang="da-DK" sz="1200" dirty="0" err="1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Circle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: </a:t>
            </a:r>
            <a:r>
              <a:rPr lang="da-DK" sz="1200" dirty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IShape</a:t>
            </a:r>
            <a:endParaRPr lang="da-DK" sz="12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176213"/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defTabSz="176213"/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defTabSz="176213"/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 </a:t>
            </a:r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radius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defTabSz="176213"/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da-DK" sz="1200" dirty="0" err="1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Coord</a:t>
            </a:r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center;</a:t>
            </a:r>
          </a:p>
          <a:p>
            <a:pPr defTabSz="176213"/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defTabSz="176213"/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err="1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setCenter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da-DK" sz="1200" dirty="0" err="1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Coord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c) { center = c;}</a:t>
            </a:r>
          </a:p>
          <a:p>
            <a:pPr defTabSz="176213"/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 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getArea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() { </a:t>
            </a:r>
            <a:r>
              <a:rPr lang="da-DK" sz="1200" dirty="0" err="1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…;	}</a:t>
            </a:r>
          </a:p>
          <a:p>
            <a:pPr defTabSz="176213"/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da-DK" sz="12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63888" y="5877272"/>
            <a:ext cx="3142142" cy="6463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da-DK" sz="16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Circle</a:t>
            </a:r>
            <a:r>
              <a:rPr lang="da-DK" dirty="0"/>
              <a:t> </a:t>
            </a:r>
            <a:r>
              <a:rPr lang="da-DK" i="1" dirty="0" err="1"/>
              <a:t>promises</a:t>
            </a:r>
            <a:r>
              <a:rPr lang="da-DK" dirty="0"/>
              <a:t> to </a:t>
            </a:r>
            <a:r>
              <a:rPr lang="da-DK" dirty="0" err="1"/>
              <a:t>implement</a:t>
            </a:r>
            <a:r>
              <a:rPr lang="da-DK" dirty="0"/>
              <a:t> </a:t>
            </a:r>
          </a:p>
          <a:p>
            <a:r>
              <a:rPr lang="da-DK" sz="16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getArea</a:t>
            </a:r>
            <a:r>
              <a:rPr lang="da-DK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da-DK" dirty="0"/>
              <a:t> and </a:t>
            </a:r>
            <a:r>
              <a:rPr lang="da-DK" sz="16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setCenter</a:t>
            </a:r>
            <a:r>
              <a:rPr lang="da-DK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endParaRPr lang="da-DK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3" name="Straight Arrow Connector 12"/>
          <p:cNvCxnSpPr>
            <a:endCxn id="7" idx="2"/>
          </p:cNvCxnSpPr>
          <p:nvPr/>
        </p:nvCxnSpPr>
        <p:spPr>
          <a:xfrm flipV="1">
            <a:off x="6588224" y="4813995"/>
            <a:ext cx="202725" cy="106327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 flipV="1">
            <a:off x="2915816" y="4230380"/>
            <a:ext cx="1554821" cy="166392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9807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What is an interface?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3528392"/>
          </a:xfrm>
        </p:spPr>
        <p:txBody>
          <a:bodyPr>
            <a:normAutofit/>
          </a:bodyPr>
          <a:lstStyle/>
          <a:p>
            <a:r>
              <a:rPr lang="en-US" sz="2800" dirty="0" smtClean="0"/>
              <a:t>An interface is…</a:t>
            </a:r>
          </a:p>
          <a:p>
            <a:pPr lvl="1"/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0070C0"/>
                </a:solidFill>
              </a:rPr>
              <a:t>contract </a:t>
            </a:r>
            <a:r>
              <a:rPr lang="en-US" sz="2400" dirty="0" smtClean="0"/>
              <a:t>– “</a:t>
            </a:r>
            <a:r>
              <a:rPr lang="en-US" sz="2400" i="1" dirty="0" smtClean="0"/>
              <a:t>I promise to provide…</a:t>
            </a:r>
            <a:r>
              <a:rPr lang="en-US" sz="2400" dirty="0" smtClean="0"/>
              <a:t>”</a:t>
            </a:r>
          </a:p>
          <a:p>
            <a:pPr lvl="1"/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0070C0"/>
                </a:solidFill>
              </a:rPr>
              <a:t>list of interaction points</a:t>
            </a:r>
            <a:r>
              <a:rPr lang="en-US" sz="2400" dirty="0" smtClean="0">
                <a:solidFill>
                  <a:srgbClr val="0070C0"/>
                </a:solidFill>
              </a:rPr>
              <a:t> </a:t>
            </a:r>
            <a:r>
              <a:rPr lang="en-US" sz="2400" dirty="0" smtClean="0"/>
              <a:t>(“points of connection”)</a:t>
            </a:r>
          </a:p>
          <a:p>
            <a:pPr lvl="1"/>
            <a:r>
              <a:rPr lang="en-US" sz="2400" dirty="0" smtClean="0"/>
              <a:t>A focus on </a:t>
            </a:r>
            <a:r>
              <a:rPr lang="en-US" sz="2400" i="1" dirty="0">
                <a:solidFill>
                  <a:srgbClr val="0070C0"/>
                </a:solidFill>
              </a:rPr>
              <a:t>functionality </a:t>
            </a:r>
            <a:r>
              <a:rPr lang="en-US" sz="2400" dirty="0" smtClean="0"/>
              <a:t>instead of implementation</a:t>
            </a:r>
          </a:p>
          <a:p>
            <a:pPr lvl="1"/>
            <a:r>
              <a:rPr lang="en-US" sz="2400" dirty="0" smtClean="0"/>
              <a:t>Something that </a:t>
            </a:r>
            <a:r>
              <a:rPr lang="en-US" sz="2400" i="1" dirty="0" smtClean="0">
                <a:solidFill>
                  <a:srgbClr val="0070C0"/>
                </a:solidFill>
              </a:rPr>
              <a:t>separates and hides implementation</a:t>
            </a:r>
            <a:r>
              <a:rPr lang="en-US" sz="2400" dirty="0" smtClean="0"/>
              <a:t> from users</a:t>
            </a:r>
          </a:p>
          <a:p>
            <a:pPr lvl="1"/>
            <a:r>
              <a:rPr lang="en-US" sz="2400" dirty="0" smtClean="0"/>
              <a:t>An </a:t>
            </a:r>
            <a:r>
              <a:rPr lang="en-US" sz="2400" dirty="0" smtClean="0"/>
              <a:t>interface is a </a:t>
            </a:r>
            <a:r>
              <a:rPr lang="en-US" sz="2400" i="1" dirty="0" smtClean="0">
                <a:solidFill>
                  <a:srgbClr val="0070C0"/>
                </a:solidFill>
              </a:rPr>
              <a:t>type definition</a:t>
            </a:r>
            <a:r>
              <a:rPr lang="en-US" sz="2400" dirty="0" smtClean="0"/>
              <a:t>.</a:t>
            </a:r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462893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Interfaces in C++ vs. C#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1008112"/>
          </a:xfrm>
        </p:spPr>
        <p:txBody>
          <a:bodyPr>
            <a:normAutofit/>
          </a:bodyPr>
          <a:lstStyle/>
          <a:p>
            <a:r>
              <a:rPr lang="en-US" sz="2400" dirty="0" smtClean="0"/>
              <a:t>Thus, in C++ we have (somewhat </a:t>
            </a:r>
            <a:r>
              <a:rPr lang="en-US" sz="2400" dirty="0"/>
              <a:t>awkward </a:t>
            </a:r>
            <a:r>
              <a:rPr lang="en-US" sz="2400" dirty="0" smtClean="0"/>
              <a:t>) language support for defining interfaces </a:t>
            </a:r>
          </a:p>
          <a:p>
            <a:endParaRPr lang="en-US" sz="2400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971600" y="2564904"/>
            <a:ext cx="3920304" cy="160043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defTabSz="176213"/>
            <a:r>
              <a:rPr lang="da-DK" sz="1400" i="1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Shape.hpp</a:t>
            </a:r>
          </a:p>
          <a:p>
            <a:pPr defTabSz="176213"/>
            <a:r>
              <a:rPr lang="da-DK" sz="1400" dirty="0" err="1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da-DK" sz="14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da-DK" sz="14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Shape</a:t>
            </a:r>
            <a:endParaRPr lang="da-DK" sz="14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176213"/>
            <a:r>
              <a:rPr lang="da-DK" sz="1400" dirty="0" smtClean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defTabSz="176213"/>
            <a:r>
              <a:rPr lang="da-DK" sz="14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4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da-DK" sz="1400" dirty="0" smtClean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defTabSz="176213"/>
            <a:r>
              <a:rPr lang="da-DK" sz="14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4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4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virtual </a:t>
            </a:r>
            <a:r>
              <a:rPr lang="da-DK" sz="1400" dirty="0" err="1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da-DK" sz="14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4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setCenter</a:t>
            </a:r>
            <a:r>
              <a:rPr lang="da-DK" sz="1400" dirty="0" smtClean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da-DK" sz="1400" dirty="0" err="1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Coord</a:t>
            </a:r>
            <a:r>
              <a:rPr lang="da-DK" sz="14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c)=0;</a:t>
            </a:r>
          </a:p>
          <a:p>
            <a:pPr defTabSz="176213"/>
            <a:r>
              <a:rPr lang="da-DK" sz="14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4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4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virtual double </a:t>
            </a:r>
            <a:r>
              <a:rPr lang="da-DK" sz="14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getArea</a:t>
            </a:r>
            <a:r>
              <a:rPr lang="da-DK" sz="1400" dirty="0" smtClean="0">
                <a:latin typeface="Consolas" panose="020B0609020204030204" pitchFamily="49" charset="0"/>
                <a:cs typeface="Consolas" panose="020B0609020204030204" pitchFamily="49" charset="0"/>
              </a:rPr>
              <a:t>()=0;</a:t>
            </a:r>
          </a:p>
          <a:p>
            <a:pPr defTabSz="176213"/>
            <a:r>
              <a:rPr lang="da-DK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da-DK" sz="14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4293096"/>
            <a:ext cx="8507288" cy="10801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294E92"/>
              </a:buClr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In </a:t>
            </a:r>
            <a:r>
              <a:rPr lang="en-US" sz="2400" dirty="0" smtClean="0"/>
              <a:t>C#, the interface is a </a:t>
            </a:r>
            <a:r>
              <a:rPr lang="en-US" sz="2400" i="1" dirty="0" smtClean="0"/>
              <a:t>built-in</a:t>
            </a:r>
            <a:r>
              <a:rPr lang="en-US" sz="2400" dirty="0" smtClean="0"/>
              <a:t> construct – but the idea is the same: To define the interface of all implementing classes</a:t>
            </a:r>
            <a:endParaRPr lang="en-US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971600" y="5301208"/>
            <a:ext cx="2748188" cy="13849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defTabSz="176213"/>
            <a:r>
              <a:rPr lang="da-DK" sz="1400" i="1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da-DK" sz="1400" i="1" dirty="0" err="1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Shape.cs</a:t>
            </a:r>
            <a:endParaRPr lang="da-DK" sz="1400" i="1" dirty="0" smtClean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176213"/>
            <a:r>
              <a:rPr lang="da-DK" sz="14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interface </a:t>
            </a:r>
            <a:r>
              <a:rPr lang="da-DK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da-DK" sz="14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Shape</a:t>
            </a:r>
            <a:endParaRPr lang="da-DK" sz="14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176213"/>
            <a:r>
              <a:rPr lang="da-DK" sz="1400" dirty="0" smtClean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defTabSz="176213"/>
            <a:r>
              <a:rPr lang="da-DK" sz="14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400" dirty="0" err="1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da-DK" sz="14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4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setCenter</a:t>
            </a:r>
            <a:r>
              <a:rPr lang="da-DK" sz="1400" dirty="0" smtClean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da-DK" sz="1400" dirty="0" err="1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Coord</a:t>
            </a:r>
            <a:r>
              <a:rPr lang="da-DK" sz="14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c);</a:t>
            </a:r>
          </a:p>
          <a:p>
            <a:pPr defTabSz="176213"/>
            <a:r>
              <a:rPr lang="da-DK" sz="14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4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 </a:t>
            </a:r>
            <a:r>
              <a:rPr lang="da-DK" sz="14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getArea</a:t>
            </a:r>
            <a:r>
              <a:rPr lang="da-DK" sz="1400" dirty="0" smtClean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defTabSz="176213"/>
            <a:r>
              <a:rPr lang="da-DK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da-DK" sz="14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126076" y="2523381"/>
            <a:ext cx="3887603" cy="83099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da-DK" sz="1600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All</a:t>
            </a:r>
            <a:r>
              <a:rPr lang="da-DK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6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methods</a:t>
            </a:r>
            <a:r>
              <a:rPr lang="da-DK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6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are</a:t>
            </a:r>
            <a:r>
              <a:rPr lang="da-DK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600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pure virtual</a:t>
            </a:r>
            <a:r>
              <a:rPr lang="da-DK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</a:p>
          <a:p>
            <a:r>
              <a:rPr lang="da-DK" sz="16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There</a:t>
            </a:r>
            <a:r>
              <a:rPr lang="da-DK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6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are</a:t>
            </a:r>
            <a:r>
              <a:rPr lang="da-DK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600" b="1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no</a:t>
            </a:r>
            <a:r>
              <a:rPr lang="da-DK" sz="1600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600" b="1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member</a:t>
            </a:r>
            <a:r>
              <a:rPr lang="da-DK" sz="1600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 variables</a:t>
            </a:r>
            <a:r>
              <a:rPr lang="da-DK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</a:p>
          <a:p>
            <a:r>
              <a:rPr lang="da-DK" sz="16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That</a:t>
            </a:r>
            <a:r>
              <a:rPr lang="da-DK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6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makes</a:t>
            </a:r>
            <a:r>
              <a:rPr lang="da-DK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the </a:t>
            </a:r>
            <a:r>
              <a:rPr lang="da-DK" sz="16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da-DK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an </a:t>
            </a:r>
            <a:r>
              <a:rPr lang="da-DK" sz="1600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interface</a:t>
            </a:r>
            <a:endParaRPr lang="da-DK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7883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Interfaces in C# - definition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228184" y="3916095"/>
            <a:ext cx="2450030" cy="18158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defTabSz="176213"/>
            <a:r>
              <a:rPr lang="da-DK" sz="1400" i="1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da-DK" sz="1400" i="1" dirty="0" err="1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IShape.cs</a:t>
            </a:r>
            <a:endParaRPr lang="da-DK" sz="1400" i="1" dirty="0" smtClean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176213"/>
            <a:r>
              <a:rPr lang="da-DK" sz="1400" dirty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da-DK" sz="14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ublic interface </a:t>
            </a:r>
            <a:r>
              <a:rPr lang="da-DK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da-DK" sz="14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Shape</a:t>
            </a:r>
            <a:endParaRPr lang="da-DK" sz="14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176213"/>
            <a:r>
              <a:rPr lang="da-DK" sz="1400" dirty="0" smtClean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defTabSz="176213"/>
            <a:r>
              <a:rPr lang="da-DK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4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// Property</a:t>
            </a:r>
          </a:p>
          <a:p>
            <a:pPr defTabSz="176213"/>
            <a:r>
              <a:rPr lang="da-DK" sz="14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400" dirty="0" err="1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Coord</a:t>
            </a:r>
            <a:r>
              <a:rPr lang="da-DK" sz="14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400" dirty="0" smtClean="0">
                <a:latin typeface="Consolas" panose="020B0609020204030204" pitchFamily="49" charset="0"/>
                <a:cs typeface="Consolas" panose="020B0609020204030204" pitchFamily="49" charset="0"/>
              </a:rPr>
              <a:t>Center {</a:t>
            </a:r>
            <a:r>
              <a:rPr lang="da-DK" sz="14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get</a:t>
            </a:r>
            <a:r>
              <a:rPr lang="da-DK" sz="1400" dirty="0" smtClean="0">
                <a:latin typeface="Consolas" panose="020B0609020204030204" pitchFamily="49" charset="0"/>
                <a:cs typeface="Consolas" panose="020B0609020204030204" pitchFamily="49" charset="0"/>
              </a:rPr>
              <a:t>; };</a:t>
            </a:r>
          </a:p>
          <a:p>
            <a:pPr defTabSz="176213"/>
            <a:r>
              <a:rPr lang="da-DK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4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// Method</a:t>
            </a:r>
          </a:p>
          <a:p>
            <a:pPr defTabSz="176213"/>
            <a:r>
              <a:rPr lang="da-DK" sz="14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4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 </a:t>
            </a:r>
            <a:r>
              <a:rPr lang="da-DK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G</a:t>
            </a:r>
            <a:r>
              <a:rPr lang="da-DK" sz="14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etArea</a:t>
            </a:r>
            <a:r>
              <a:rPr lang="da-DK" sz="1400" dirty="0" smtClean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defTabSz="176213"/>
            <a:r>
              <a:rPr lang="da-DK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da-DK" sz="14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457200" y="1556792"/>
            <a:ext cx="8507288" cy="3096344"/>
          </a:xfrm>
        </p:spPr>
        <p:txBody>
          <a:bodyPr>
            <a:noAutofit/>
          </a:bodyPr>
          <a:lstStyle/>
          <a:p>
            <a:r>
              <a:rPr lang="da-DK" sz="2400" dirty="0" smtClean="0"/>
              <a:t>An interface </a:t>
            </a:r>
            <a:r>
              <a:rPr lang="da-DK" sz="2400" i="1" dirty="0" err="1" smtClean="0"/>
              <a:t>declares</a:t>
            </a:r>
            <a:r>
              <a:rPr lang="da-DK" sz="2400" dirty="0" smtClean="0"/>
              <a:t> </a:t>
            </a:r>
            <a:r>
              <a:rPr lang="da-DK" sz="2400" dirty="0" err="1" smtClean="0"/>
              <a:t>methods</a:t>
            </a:r>
            <a:r>
              <a:rPr lang="da-DK" sz="2400" dirty="0" smtClean="0"/>
              <a:t> etc., but </a:t>
            </a:r>
            <a:r>
              <a:rPr lang="da-DK" sz="2400" dirty="0" err="1" smtClean="0"/>
              <a:t>contains</a:t>
            </a:r>
            <a:r>
              <a:rPr lang="da-DK" sz="2400" dirty="0" smtClean="0"/>
              <a:t> </a:t>
            </a:r>
            <a:r>
              <a:rPr lang="da-DK" sz="2400" i="1" dirty="0" err="1" smtClean="0"/>
              <a:t>no</a:t>
            </a:r>
            <a:r>
              <a:rPr lang="da-DK" sz="2400" i="1" dirty="0" smtClean="0"/>
              <a:t> </a:t>
            </a:r>
            <a:r>
              <a:rPr lang="da-DK" sz="2400" dirty="0" err="1" smtClean="0"/>
              <a:t>implementation</a:t>
            </a:r>
            <a:r>
              <a:rPr lang="da-DK" sz="2400" dirty="0" smtClean="0"/>
              <a:t> of </a:t>
            </a:r>
            <a:r>
              <a:rPr lang="da-DK" sz="2400" dirty="0" err="1" smtClean="0"/>
              <a:t>them</a:t>
            </a:r>
            <a:endParaRPr lang="da-DK" sz="2400" dirty="0" smtClean="0"/>
          </a:p>
          <a:p>
            <a:r>
              <a:rPr lang="da-DK" sz="2400" dirty="0" smtClean="0"/>
              <a:t>An </a:t>
            </a:r>
            <a:r>
              <a:rPr lang="da-DK" sz="2400" dirty="0"/>
              <a:t>interface is </a:t>
            </a:r>
            <a:r>
              <a:rPr lang="da-DK" sz="2400" dirty="0" err="1"/>
              <a:t>declared</a:t>
            </a:r>
            <a:r>
              <a:rPr lang="da-DK" sz="2400" dirty="0"/>
              <a:t> by the </a:t>
            </a:r>
            <a:r>
              <a:rPr lang="da-DK" sz="2400" dirty="0" err="1"/>
              <a:t>keyword</a:t>
            </a:r>
            <a:r>
              <a:rPr lang="da-DK" sz="2400" dirty="0"/>
              <a:t> </a:t>
            </a:r>
            <a:r>
              <a:rPr lang="da-DK" sz="2000" dirty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interface</a:t>
            </a:r>
            <a:r>
              <a:rPr lang="da-DK" sz="2400" dirty="0"/>
              <a:t>.</a:t>
            </a:r>
          </a:p>
          <a:p>
            <a:r>
              <a:rPr lang="da-DK" sz="2400" dirty="0" err="1" smtClean="0"/>
              <a:t>Anything</a:t>
            </a:r>
            <a:r>
              <a:rPr lang="da-DK" sz="2400" dirty="0" smtClean="0"/>
              <a:t> </a:t>
            </a:r>
            <a:r>
              <a:rPr lang="da-DK" sz="2400" dirty="0" err="1"/>
              <a:t>defined</a:t>
            </a:r>
            <a:r>
              <a:rPr lang="da-DK" sz="2400" dirty="0"/>
              <a:t> </a:t>
            </a:r>
            <a:r>
              <a:rPr lang="da-DK" sz="2400" u="sng" dirty="0"/>
              <a:t>in</a:t>
            </a:r>
            <a:r>
              <a:rPr lang="da-DK" sz="2400" dirty="0"/>
              <a:t> an interface </a:t>
            </a:r>
            <a:r>
              <a:rPr lang="da-DK" sz="2400" dirty="0" smtClean="0"/>
              <a:t>is </a:t>
            </a:r>
            <a:r>
              <a:rPr lang="da-DK" sz="2400" u="sng" dirty="0" err="1" smtClean="0"/>
              <a:t>automatically</a:t>
            </a:r>
            <a:r>
              <a:rPr lang="da-DK" sz="2400" dirty="0" smtClean="0"/>
              <a:t> </a:t>
            </a:r>
            <a:r>
              <a:rPr lang="da-DK" sz="2000" dirty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</a:p>
          <a:p>
            <a:r>
              <a:rPr lang="da-DK" sz="2400" dirty="0" smtClean="0"/>
              <a:t>The </a:t>
            </a:r>
            <a:r>
              <a:rPr lang="da-DK" sz="2400" dirty="0"/>
              <a:t>interface </a:t>
            </a:r>
            <a:r>
              <a:rPr lang="da-DK" sz="2400" dirty="0" err="1"/>
              <a:t>may</a:t>
            </a:r>
            <a:r>
              <a:rPr lang="da-DK" sz="2400" dirty="0"/>
              <a:t> hold </a:t>
            </a:r>
            <a:endParaRPr lang="da-DK" sz="2400" dirty="0" smtClean="0"/>
          </a:p>
          <a:p>
            <a:pPr lvl="1"/>
            <a:r>
              <a:rPr lang="da-DK" sz="2000" dirty="0" err="1" smtClean="0"/>
              <a:t>method</a:t>
            </a:r>
            <a:r>
              <a:rPr lang="da-DK" sz="2000" dirty="0" smtClean="0"/>
              <a:t> </a:t>
            </a:r>
            <a:r>
              <a:rPr lang="da-DK" sz="2000" dirty="0" err="1" smtClean="0"/>
              <a:t>declarations</a:t>
            </a:r>
            <a:r>
              <a:rPr lang="da-DK" sz="2000" dirty="0" smtClean="0"/>
              <a:t>, </a:t>
            </a:r>
            <a:endParaRPr lang="da-DK" sz="2000" dirty="0" smtClean="0"/>
          </a:p>
          <a:p>
            <a:pPr lvl="1"/>
            <a:r>
              <a:rPr lang="da-DK" sz="2000" dirty="0" smtClean="0"/>
              <a:t>properties</a:t>
            </a:r>
            <a:r>
              <a:rPr lang="da-DK" sz="2000" dirty="0" smtClean="0"/>
              <a:t>, </a:t>
            </a:r>
            <a:endParaRPr lang="da-DK" sz="2000" dirty="0" smtClean="0"/>
          </a:p>
          <a:p>
            <a:pPr lvl="1"/>
            <a:r>
              <a:rPr lang="da-DK" sz="2000" dirty="0" smtClean="0"/>
              <a:t>events </a:t>
            </a:r>
          </a:p>
          <a:p>
            <a:pPr lvl="1"/>
            <a:r>
              <a:rPr lang="da-DK" sz="2000" dirty="0" smtClean="0"/>
              <a:t>(</a:t>
            </a:r>
            <a:r>
              <a:rPr lang="da-DK" sz="2000" dirty="0" smtClean="0"/>
              <a:t>and </a:t>
            </a:r>
            <a:r>
              <a:rPr lang="da-DK" sz="2000" dirty="0" err="1" smtClean="0"/>
              <a:t>indexers</a:t>
            </a:r>
            <a:r>
              <a:rPr lang="da-DK" sz="2000" dirty="0" smtClean="0"/>
              <a:t>, not </a:t>
            </a:r>
            <a:r>
              <a:rPr lang="da-DK" sz="2000" dirty="0" err="1" smtClean="0"/>
              <a:t>used</a:t>
            </a:r>
            <a:r>
              <a:rPr lang="da-DK" sz="2000" dirty="0" smtClean="0"/>
              <a:t> in </a:t>
            </a:r>
            <a:r>
              <a:rPr lang="da-DK" sz="2000" dirty="0" err="1" smtClean="0"/>
              <a:t>this</a:t>
            </a:r>
            <a:r>
              <a:rPr lang="da-DK" sz="2000" dirty="0" smtClean="0"/>
              <a:t> </a:t>
            </a:r>
            <a:r>
              <a:rPr lang="da-DK" sz="2000" dirty="0" err="1" smtClean="0"/>
              <a:t>course</a:t>
            </a:r>
            <a:r>
              <a:rPr lang="da-DK" sz="2000" dirty="0" smtClean="0"/>
              <a:t>)</a:t>
            </a:r>
            <a:endParaRPr lang="da-DK" sz="2000" dirty="0" smtClean="0"/>
          </a:p>
        </p:txBody>
      </p:sp>
    </p:spTree>
    <p:extLst>
      <p:ext uri="{BB962C8B-B14F-4D97-AF65-F5344CB8AC3E}">
        <p14:creationId xmlns:p14="http://schemas.microsoft.com/office/powerpoint/2010/main" val="1682040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Interfaces in C# - </a:t>
            </a:r>
            <a:br>
              <a:rPr lang="en-US" dirty="0" smtClean="0"/>
            </a:br>
            <a:r>
              <a:rPr lang="en-US" dirty="0" smtClean="0"/>
              <a:t>Definition and implementation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411862" y="4725144"/>
            <a:ext cx="4186082" cy="13849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defTabSz="176213"/>
            <a:r>
              <a:rPr lang="da-DK" sz="1200" i="1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da-DK" sz="1200" i="1" dirty="0" err="1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Square.cs</a:t>
            </a:r>
            <a:endParaRPr lang="da-DK" sz="1200" i="1" dirty="0" smtClean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176213"/>
            <a:r>
              <a:rPr lang="da-DK" sz="1200" dirty="0" err="1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Square : 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IShape</a:t>
            </a:r>
            <a:endParaRPr lang="da-DK" sz="12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176213"/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defTabSz="176213"/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 double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SideLength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{ 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get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da-DK" sz="1200" dirty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 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set;}</a:t>
            </a:r>
          </a:p>
          <a:p>
            <a:pPr defTabSz="176213"/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b="1" dirty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da-DK" sz="1200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200" b="1" dirty="0" err="1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Coord</a:t>
            </a:r>
            <a:r>
              <a:rPr lang="da-DK" sz="1200" b="1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200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Center { </a:t>
            </a:r>
            <a:r>
              <a:rPr lang="da-DK" sz="1200" b="1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get</a:t>
            </a:r>
            <a:r>
              <a:rPr lang="da-DK" sz="1200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200" dirty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set;}</a:t>
            </a:r>
          </a:p>
          <a:p>
            <a:pPr defTabSz="176213"/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b="1" dirty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da-DK" sz="1200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200" b="1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 </a:t>
            </a:r>
            <a:r>
              <a:rPr lang="da-DK" sz="1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G</a:t>
            </a:r>
            <a:r>
              <a:rPr lang="da-DK" sz="1200" b="1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etArea</a:t>
            </a:r>
            <a:r>
              <a:rPr lang="da-DK" sz="1200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{…}</a:t>
            </a:r>
          </a:p>
          <a:p>
            <a:pPr defTabSz="176213"/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da-DK" sz="12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04048" y="4725144"/>
            <a:ext cx="3846246" cy="13849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defTabSz="176213"/>
            <a:r>
              <a:rPr lang="da-DK" sz="1200" i="1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da-DK" sz="1200" i="1" dirty="0" err="1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Circle.cs</a:t>
            </a:r>
            <a:endParaRPr lang="da-DK" sz="1200" i="1" dirty="0" smtClean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176213"/>
            <a:r>
              <a:rPr lang="da-DK" sz="1200" dirty="0" err="1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Circle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IShape</a:t>
            </a:r>
            <a:endParaRPr lang="da-DK" sz="12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176213"/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defTabSz="176213"/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 </a:t>
            </a:r>
            <a:r>
              <a:rPr lang="da-DK" sz="1200" dirty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 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Radius { </a:t>
            </a:r>
            <a:r>
              <a:rPr lang="da-DK" sz="1200" dirty="0" err="1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</a:t>
            </a:r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200" dirty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 set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;}</a:t>
            </a:r>
          </a:p>
          <a:p>
            <a:pPr defTabSz="176213"/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b="1" dirty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da-DK" sz="1200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200" b="1" dirty="0" err="1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Coord</a:t>
            </a:r>
            <a:r>
              <a:rPr lang="da-DK" sz="1200" b="1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200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Center { </a:t>
            </a:r>
            <a:r>
              <a:rPr lang="da-DK" sz="1200" b="1" dirty="0" err="1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</a:t>
            </a:r>
            <a:r>
              <a:rPr lang="da-DK" sz="1200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200" dirty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 set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;}</a:t>
            </a:r>
          </a:p>
          <a:p>
            <a:pPr defTabSz="176213"/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b="1" dirty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da-DK" sz="1200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200" b="1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 </a:t>
            </a:r>
            <a:r>
              <a:rPr lang="da-DK" sz="1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G</a:t>
            </a:r>
            <a:r>
              <a:rPr lang="da-DK" sz="1200" b="1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etArea</a:t>
            </a:r>
            <a:r>
              <a:rPr lang="da-DK" sz="1200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{…}</a:t>
            </a:r>
          </a:p>
          <a:p>
            <a:pPr defTabSz="176213"/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da-DK" sz="12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88224" y="1715870"/>
            <a:ext cx="2147063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defTabSz="176213"/>
            <a:r>
              <a:rPr lang="da-DK" sz="1200" i="1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da-DK" sz="1200" i="1" dirty="0" err="1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IShape.cs</a:t>
            </a:r>
            <a:endParaRPr lang="da-DK" sz="1200" i="1" dirty="0" smtClean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176213"/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interface </a:t>
            </a:r>
            <a:r>
              <a:rPr lang="da-DK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Shape</a:t>
            </a:r>
            <a:endParaRPr lang="da-DK" sz="12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176213"/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defTabSz="176213"/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err="1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Coord</a:t>
            </a:r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Center {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get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; };</a:t>
            </a:r>
          </a:p>
          <a:p>
            <a:pPr defTabSz="176213"/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 </a:t>
            </a:r>
            <a:r>
              <a:rPr lang="da-DK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G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etArea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defTabSz="176213"/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da-DK" sz="12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457200" y="1556792"/>
            <a:ext cx="5842992" cy="1008112"/>
          </a:xfrm>
        </p:spPr>
        <p:txBody>
          <a:bodyPr>
            <a:noAutofit/>
          </a:bodyPr>
          <a:lstStyle/>
          <a:p>
            <a:r>
              <a:rPr lang="da-DK" sz="2000" dirty="0" err="1" smtClean="0"/>
              <a:t>Implementation</a:t>
            </a:r>
            <a:r>
              <a:rPr lang="da-DK" sz="2000" dirty="0" smtClean="0"/>
              <a:t> </a:t>
            </a:r>
            <a:r>
              <a:rPr lang="da-DK" sz="2000" dirty="0"/>
              <a:t>is </a:t>
            </a:r>
            <a:r>
              <a:rPr lang="da-DK" sz="2000" dirty="0" err="1"/>
              <a:t>declared</a:t>
            </a:r>
            <a:r>
              <a:rPr lang="da-DK" sz="2000" dirty="0"/>
              <a:t> in the </a:t>
            </a:r>
            <a:r>
              <a:rPr lang="da-DK" sz="2000" dirty="0" err="1"/>
              <a:t>class</a:t>
            </a:r>
            <a:r>
              <a:rPr lang="da-DK" sz="2000" dirty="0"/>
              <a:t> definition</a:t>
            </a:r>
            <a:r>
              <a:rPr lang="da-DK" sz="2000" dirty="0" smtClean="0"/>
              <a:t>.</a:t>
            </a:r>
          </a:p>
          <a:p>
            <a:r>
              <a:rPr lang="da-DK" sz="2000" dirty="0" smtClean="0"/>
              <a:t>A </a:t>
            </a:r>
            <a:r>
              <a:rPr lang="da-DK" sz="2000" dirty="0" err="1" smtClean="0"/>
              <a:t>class</a:t>
            </a:r>
            <a:r>
              <a:rPr lang="da-DK" sz="2000" dirty="0" smtClean="0"/>
              <a:t> </a:t>
            </a:r>
            <a:r>
              <a:rPr lang="da-DK" sz="2000" dirty="0" err="1" smtClean="0"/>
              <a:t>may</a:t>
            </a:r>
            <a:r>
              <a:rPr lang="da-DK" sz="2000" dirty="0" smtClean="0"/>
              <a:t> </a:t>
            </a:r>
            <a:r>
              <a:rPr lang="da-DK" sz="2000" dirty="0" err="1" smtClean="0"/>
              <a:t>implement</a:t>
            </a:r>
            <a:r>
              <a:rPr lang="da-DK" sz="2000" dirty="0" smtClean="0"/>
              <a:t> </a:t>
            </a:r>
            <a:r>
              <a:rPr lang="da-DK" sz="2000" b="1" dirty="0" err="1" smtClean="0"/>
              <a:t>several</a:t>
            </a:r>
            <a:r>
              <a:rPr lang="da-DK" sz="2000" dirty="0" smtClean="0"/>
              <a:t> interfaces</a:t>
            </a:r>
            <a:endParaRPr lang="da-DK" sz="2000" dirty="0"/>
          </a:p>
          <a:p>
            <a:r>
              <a:rPr lang="da-DK" sz="2000" dirty="0" smtClean="0"/>
              <a:t>The </a:t>
            </a:r>
            <a:r>
              <a:rPr lang="da-DK" sz="2000" dirty="0" err="1"/>
              <a:t>class</a:t>
            </a:r>
            <a:r>
              <a:rPr lang="da-DK" sz="2000" dirty="0"/>
              <a:t> must </a:t>
            </a:r>
            <a:r>
              <a:rPr lang="da-DK" sz="2000" dirty="0" err="1"/>
              <a:t>implement</a:t>
            </a:r>
            <a:r>
              <a:rPr lang="da-DK" sz="2000" dirty="0"/>
              <a:t> </a:t>
            </a:r>
            <a:r>
              <a:rPr lang="da-DK" sz="2000" b="1" i="1" dirty="0"/>
              <a:t>at </a:t>
            </a:r>
            <a:r>
              <a:rPr lang="da-DK" sz="2000" b="1" i="1" dirty="0" err="1"/>
              <a:t>least</a:t>
            </a:r>
            <a:r>
              <a:rPr lang="da-DK" sz="2000" dirty="0"/>
              <a:t> the </a:t>
            </a:r>
            <a:r>
              <a:rPr lang="da-DK" sz="2000" dirty="0" err="1"/>
              <a:t>methods</a:t>
            </a:r>
            <a:r>
              <a:rPr lang="da-DK" sz="2000" dirty="0"/>
              <a:t> and properties </a:t>
            </a:r>
            <a:r>
              <a:rPr lang="da-DK" sz="2000" dirty="0" err="1"/>
              <a:t>defined</a:t>
            </a:r>
            <a:r>
              <a:rPr lang="da-DK" sz="2000" dirty="0"/>
              <a:t> in the </a:t>
            </a:r>
            <a:r>
              <a:rPr lang="da-DK" sz="2000" dirty="0" smtClean="0"/>
              <a:t>interface(s</a:t>
            </a:r>
            <a:r>
              <a:rPr lang="da-DK" sz="2000" dirty="0" smtClean="0"/>
              <a:t>)</a:t>
            </a:r>
          </a:p>
          <a:p>
            <a:r>
              <a:rPr lang="da-DK" sz="2000" dirty="0" smtClean="0"/>
              <a:t>The </a:t>
            </a:r>
            <a:r>
              <a:rPr lang="da-DK" sz="2000" dirty="0" err="1" smtClean="0"/>
              <a:t>class</a:t>
            </a:r>
            <a:r>
              <a:rPr lang="da-DK" sz="2000" dirty="0" smtClean="0"/>
              <a:t> </a:t>
            </a:r>
            <a:r>
              <a:rPr lang="da-DK" sz="2000" dirty="0" err="1" smtClean="0"/>
              <a:t>can</a:t>
            </a:r>
            <a:r>
              <a:rPr lang="da-DK" sz="2000" dirty="0" smtClean="0"/>
              <a:t> </a:t>
            </a:r>
            <a:r>
              <a:rPr lang="da-DK" sz="2000" dirty="0" err="1" smtClean="0"/>
              <a:t>also</a:t>
            </a:r>
            <a:r>
              <a:rPr lang="da-DK" sz="2000" dirty="0" smtClean="0"/>
              <a:t> </a:t>
            </a:r>
            <a:r>
              <a:rPr lang="da-DK" sz="2000" dirty="0" err="1" smtClean="0"/>
              <a:t>implement</a:t>
            </a:r>
            <a:r>
              <a:rPr lang="da-DK" sz="2000" dirty="0" smtClean="0"/>
              <a:t> </a:t>
            </a:r>
            <a:r>
              <a:rPr lang="da-DK" sz="2000" dirty="0" err="1" smtClean="0"/>
              <a:t>other</a:t>
            </a:r>
            <a:r>
              <a:rPr lang="da-DK" sz="2000" dirty="0" smtClean="0"/>
              <a:t> elements, </a:t>
            </a:r>
            <a:br>
              <a:rPr lang="da-DK" sz="2000" dirty="0" smtClean="0"/>
            </a:br>
            <a:r>
              <a:rPr lang="da-DK" sz="2000" dirty="0" err="1" smtClean="0"/>
              <a:t>specific</a:t>
            </a:r>
            <a:r>
              <a:rPr lang="da-DK" sz="2000" dirty="0" smtClean="0"/>
              <a:t> for the </a:t>
            </a:r>
            <a:r>
              <a:rPr lang="da-DK" sz="2000" dirty="0" err="1" smtClean="0"/>
              <a:t>class</a:t>
            </a:r>
            <a:endParaRPr lang="da-DK" sz="2000" dirty="0" smtClean="0"/>
          </a:p>
          <a:p>
            <a:r>
              <a:rPr lang="da-DK" sz="2000" dirty="0" err="1" smtClean="0"/>
              <a:t>When</a:t>
            </a:r>
            <a:r>
              <a:rPr lang="da-DK" sz="2000" dirty="0" smtClean="0"/>
              <a:t> </a:t>
            </a:r>
            <a:r>
              <a:rPr lang="da-DK" sz="2000" dirty="0" err="1" smtClean="0"/>
              <a:t>implemented</a:t>
            </a:r>
            <a:r>
              <a:rPr lang="da-DK" sz="2000" dirty="0" smtClean="0"/>
              <a:t>, the </a:t>
            </a:r>
            <a:r>
              <a:rPr lang="da-DK" sz="2000" dirty="0" err="1" smtClean="0"/>
              <a:t>class</a:t>
            </a:r>
            <a:r>
              <a:rPr lang="da-DK" sz="2000" dirty="0" smtClean="0"/>
              <a:t> </a:t>
            </a:r>
            <a:r>
              <a:rPr lang="da-DK" sz="2000" dirty="0" err="1" smtClean="0"/>
              <a:t>can</a:t>
            </a:r>
            <a:r>
              <a:rPr lang="da-DK" sz="2000" dirty="0" smtClean="0"/>
              <a:t> </a:t>
            </a:r>
            <a:r>
              <a:rPr lang="da-DK" sz="2000" dirty="0" err="1" smtClean="0"/>
              <a:t>be</a:t>
            </a:r>
            <a:r>
              <a:rPr lang="da-DK" sz="2000" dirty="0" smtClean="0"/>
              <a:t> </a:t>
            </a:r>
            <a:r>
              <a:rPr lang="da-DK" sz="2000" dirty="0" err="1" smtClean="0"/>
              <a:t>considered</a:t>
            </a:r>
            <a:r>
              <a:rPr lang="da-DK" sz="2000" dirty="0" smtClean="0"/>
              <a:t> of the </a:t>
            </a:r>
            <a:r>
              <a:rPr lang="da-DK" sz="2000" dirty="0" err="1" smtClean="0"/>
              <a:t>interface’s</a:t>
            </a:r>
            <a:r>
              <a:rPr lang="da-DK" sz="2000" dirty="0" smtClean="0"/>
              <a:t> type</a:t>
            </a:r>
            <a:endParaRPr lang="da-DK" sz="2000" dirty="0"/>
          </a:p>
        </p:txBody>
      </p:sp>
    </p:spTree>
    <p:extLst>
      <p:ext uri="{BB962C8B-B14F-4D97-AF65-F5344CB8AC3E}">
        <p14:creationId xmlns:p14="http://schemas.microsoft.com/office/powerpoint/2010/main" val="1524495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Interfaces in C# - </a:t>
            </a:r>
            <a:br>
              <a:rPr lang="en-US" dirty="0" smtClean="0"/>
            </a:br>
            <a:r>
              <a:rPr lang="en-US" dirty="0" smtClean="0"/>
              <a:t>Reference and use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971600" y="4221088"/>
            <a:ext cx="7033247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defTabSz="176213"/>
            <a:r>
              <a:rPr lang="da-DK" sz="1200" i="1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da-DK" sz="1200" i="1" dirty="0" err="1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Shape.cs</a:t>
            </a:r>
            <a:endParaRPr lang="da-DK" sz="1200" i="1" dirty="0" smtClean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176213"/>
            <a:r>
              <a:rPr lang="da-DK" sz="1200" dirty="0" err="1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GraphicsApp</a:t>
            </a:r>
            <a:endParaRPr lang="da-DK" sz="12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176213"/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defTabSz="176213"/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list&lt;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IShape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&gt; _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shapes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defTabSz="176213"/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200" dirty="0" err="1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200" dirty="0" err="1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da-DK" sz="1200" dirty="0" err="1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ddShape</a:t>
            </a:r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da-DK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IShape</a:t>
            </a:r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 s){ </a:t>
            </a:r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shapes.Add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(s);}</a:t>
            </a:r>
          </a:p>
          <a:p>
            <a:pPr defTabSz="176213"/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200" dirty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GetTotalArea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defTabSz="176213"/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{</a:t>
            </a:r>
          </a:p>
          <a:p>
            <a:pPr defTabSz="176213"/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da-DK" sz="1200" dirty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res = 0;</a:t>
            </a:r>
          </a:p>
          <a:p>
            <a:pPr defTabSz="176213"/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da-DK" sz="1200" dirty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 </a:t>
            </a:r>
            <a:r>
              <a:rPr lang="da-DK" sz="1200" dirty="0" err="1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each</a:t>
            </a:r>
            <a:r>
              <a:rPr lang="da-DK" sz="1200" dirty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s </a:t>
            </a:r>
            <a:r>
              <a:rPr lang="da-DK" sz="1200" dirty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shapes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defTabSz="176213"/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	res += 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s.GetArea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defTabSz="176213"/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err="1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res;</a:t>
            </a:r>
          </a:p>
          <a:p>
            <a:pPr defTabSz="176213"/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8224" y="1556792"/>
            <a:ext cx="2147063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defTabSz="176213"/>
            <a:r>
              <a:rPr lang="da-DK" sz="1200" i="1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da-DK" sz="1200" i="1" dirty="0" err="1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IShape.cs</a:t>
            </a:r>
            <a:endParaRPr lang="da-DK" sz="1200" i="1" dirty="0" smtClean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176213"/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interface </a:t>
            </a:r>
            <a:r>
              <a:rPr lang="da-DK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Shape</a:t>
            </a:r>
            <a:endParaRPr lang="da-DK" sz="12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176213"/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defTabSz="176213"/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err="1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Coord</a:t>
            </a:r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Center {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get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; };</a:t>
            </a:r>
          </a:p>
          <a:p>
            <a:pPr defTabSz="176213"/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a-DK" sz="1200" dirty="0" smtClean="0">
                <a:solidFill>
                  <a:srgbClr val="294E9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 </a:t>
            </a:r>
            <a:r>
              <a:rPr lang="da-DK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G</a:t>
            </a:r>
            <a:r>
              <a:rPr lang="da-DK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etArea</a:t>
            </a:r>
            <a:r>
              <a:rPr lang="da-DK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defTabSz="176213"/>
            <a:r>
              <a:rPr lang="da-DK" sz="12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da-DK" sz="12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457200" y="1556792"/>
            <a:ext cx="5842992" cy="1008112"/>
          </a:xfrm>
        </p:spPr>
        <p:txBody>
          <a:bodyPr>
            <a:noAutofit/>
          </a:bodyPr>
          <a:lstStyle/>
          <a:p>
            <a:r>
              <a:rPr lang="da-DK" sz="2000" dirty="0" smtClean="0"/>
              <a:t>The interface is </a:t>
            </a:r>
            <a:r>
              <a:rPr lang="da-DK" sz="2000" dirty="0" err="1" smtClean="0"/>
              <a:t>used</a:t>
            </a:r>
            <a:r>
              <a:rPr lang="da-DK" sz="2000" dirty="0" smtClean="0"/>
              <a:t> as a type</a:t>
            </a:r>
          </a:p>
          <a:p>
            <a:r>
              <a:rPr lang="da-DK" sz="2000" dirty="0" smtClean="0"/>
              <a:t>All </a:t>
            </a:r>
            <a:r>
              <a:rPr lang="da-DK" sz="2000" dirty="0" err="1" smtClean="0"/>
              <a:t>implementors</a:t>
            </a:r>
            <a:r>
              <a:rPr lang="da-DK" sz="2000" dirty="0" smtClean="0"/>
              <a:t> of the interface </a:t>
            </a:r>
            <a:r>
              <a:rPr lang="da-DK" sz="2000" dirty="0" err="1" smtClean="0"/>
              <a:t>can</a:t>
            </a:r>
            <a:r>
              <a:rPr lang="da-DK" sz="2000" dirty="0" smtClean="0"/>
              <a:t> </a:t>
            </a:r>
            <a:r>
              <a:rPr lang="da-DK" sz="2000" dirty="0" err="1" smtClean="0"/>
              <a:t>be</a:t>
            </a:r>
            <a:r>
              <a:rPr lang="da-DK" sz="2000" dirty="0" smtClean="0"/>
              <a:t> </a:t>
            </a:r>
            <a:r>
              <a:rPr lang="da-DK" sz="2000" dirty="0" err="1" smtClean="0"/>
              <a:t>used</a:t>
            </a:r>
            <a:r>
              <a:rPr lang="da-DK" sz="2000" dirty="0" smtClean="0"/>
              <a:t> as type of the interface.</a:t>
            </a:r>
          </a:p>
          <a:p>
            <a:endParaRPr lang="da-DK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4572000" y="3501008"/>
            <a:ext cx="3673891" cy="646331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da-DK" dirty="0" smtClean="0"/>
              <a:t>Objects of </a:t>
            </a:r>
            <a:r>
              <a:rPr lang="da-DK" i="1" dirty="0" err="1" smtClean="0"/>
              <a:t>any</a:t>
            </a:r>
            <a:r>
              <a:rPr lang="da-DK" i="1" dirty="0" smtClean="0"/>
              <a:t> </a:t>
            </a:r>
            <a:r>
              <a:rPr lang="da-DK" dirty="0" err="1" smtClean="0"/>
              <a:t>class</a:t>
            </a:r>
            <a:r>
              <a:rPr lang="da-DK" dirty="0" smtClean="0"/>
              <a:t> </a:t>
            </a:r>
            <a:r>
              <a:rPr lang="da-DK" dirty="0" err="1" smtClean="0"/>
              <a:t>that</a:t>
            </a:r>
            <a:r>
              <a:rPr lang="da-DK" dirty="0" smtClean="0"/>
              <a:t> </a:t>
            </a:r>
            <a:r>
              <a:rPr lang="da-DK" dirty="0" err="1" smtClean="0"/>
              <a:t>implements</a:t>
            </a:r>
            <a:r>
              <a:rPr lang="da-DK" dirty="0" smtClean="0"/>
              <a:t> </a:t>
            </a:r>
          </a:p>
          <a:p>
            <a:r>
              <a:rPr lang="da-DK" sz="1600" dirty="0" err="1" smtClean="0">
                <a:latin typeface="Consolas" panose="020B0609020204030204" pitchFamily="49" charset="0"/>
              </a:rPr>
              <a:t>IShape</a:t>
            </a:r>
            <a:r>
              <a:rPr lang="da-DK" dirty="0"/>
              <a:t> </a:t>
            </a:r>
            <a:r>
              <a:rPr lang="da-DK" dirty="0" err="1" smtClean="0"/>
              <a:t>may</a:t>
            </a:r>
            <a:r>
              <a:rPr lang="da-DK" dirty="0" smtClean="0"/>
              <a:t> </a:t>
            </a:r>
            <a:r>
              <a:rPr lang="da-DK" dirty="0" err="1" smtClean="0"/>
              <a:t>be</a:t>
            </a:r>
            <a:r>
              <a:rPr lang="da-DK" dirty="0" smtClean="0"/>
              <a:t> </a:t>
            </a:r>
            <a:r>
              <a:rPr lang="da-DK" dirty="0" err="1" smtClean="0"/>
              <a:t>stored</a:t>
            </a:r>
            <a:r>
              <a:rPr lang="da-DK" dirty="0" smtClean="0"/>
              <a:t> in </a:t>
            </a:r>
            <a:r>
              <a:rPr lang="da-DK" sz="1600" dirty="0">
                <a:latin typeface="Consolas" panose="020B0609020204030204" pitchFamily="49" charset="0"/>
              </a:rPr>
              <a:t>_</a:t>
            </a:r>
            <a:r>
              <a:rPr lang="da-DK" sz="1600" dirty="0" err="1">
                <a:latin typeface="Consolas" panose="020B0609020204030204" pitchFamily="49" charset="0"/>
              </a:rPr>
              <a:t>shapes</a:t>
            </a:r>
            <a:endParaRPr lang="da-DK" sz="1600" dirty="0">
              <a:latin typeface="Consolas" panose="020B0609020204030204" pitchFamily="49" charset="0"/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2843808" y="3824174"/>
            <a:ext cx="1728192" cy="97297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061396" y="5375250"/>
            <a:ext cx="3673891" cy="92333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da-DK" dirty="0" smtClean="0"/>
              <a:t>Objects of </a:t>
            </a:r>
            <a:r>
              <a:rPr lang="da-DK" i="1" dirty="0" err="1" smtClean="0"/>
              <a:t>any</a:t>
            </a:r>
            <a:r>
              <a:rPr lang="da-DK" i="1" dirty="0" smtClean="0"/>
              <a:t> </a:t>
            </a:r>
            <a:r>
              <a:rPr lang="da-DK" dirty="0" err="1" smtClean="0"/>
              <a:t>class</a:t>
            </a:r>
            <a:r>
              <a:rPr lang="da-DK" dirty="0" smtClean="0"/>
              <a:t> </a:t>
            </a:r>
            <a:r>
              <a:rPr lang="da-DK" dirty="0" err="1" smtClean="0"/>
              <a:t>that</a:t>
            </a:r>
            <a:r>
              <a:rPr lang="da-DK" dirty="0" smtClean="0"/>
              <a:t> </a:t>
            </a:r>
            <a:r>
              <a:rPr lang="da-DK" dirty="0" err="1" smtClean="0"/>
              <a:t>implements</a:t>
            </a:r>
            <a:r>
              <a:rPr lang="da-DK" dirty="0" smtClean="0"/>
              <a:t> </a:t>
            </a:r>
          </a:p>
          <a:p>
            <a:r>
              <a:rPr lang="da-DK" sz="1600" dirty="0" err="1" smtClean="0">
                <a:latin typeface="Consolas" panose="020B0609020204030204" pitchFamily="49" charset="0"/>
              </a:rPr>
              <a:t>IShape</a:t>
            </a:r>
            <a:r>
              <a:rPr lang="da-DK" dirty="0"/>
              <a:t> </a:t>
            </a:r>
            <a:r>
              <a:rPr lang="da-DK" dirty="0" err="1" smtClean="0"/>
              <a:t>may</a:t>
            </a:r>
            <a:r>
              <a:rPr lang="da-DK" dirty="0" smtClean="0"/>
              <a:t> </a:t>
            </a:r>
            <a:r>
              <a:rPr lang="da-DK" dirty="0" err="1" smtClean="0"/>
              <a:t>be</a:t>
            </a:r>
            <a:r>
              <a:rPr lang="da-DK" dirty="0" smtClean="0"/>
              <a:t> </a:t>
            </a:r>
            <a:r>
              <a:rPr lang="da-DK" dirty="0" err="1" smtClean="0"/>
              <a:t>used</a:t>
            </a:r>
            <a:r>
              <a:rPr lang="da-DK" dirty="0" smtClean="0"/>
              <a:t> as argument for</a:t>
            </a:r>
          </a:p>
          <a:p>
            <a:r>
              <a:rPr lang="da-DK" dirty="0" smtClean="0"/>
              <a:t>  </a:t>
            </a:r>
            <a:r>
              <a:rPr lang="da-DK" sz="1600" dirty="0" err="1" smtClean="0">
                <a:latin typeface="Consolas" panose="020B0609020204030204" pitchFamily="49" charset="0"/>
              </a:rPr>
              <a:t>AddShape</a:t>
            </a:r>
            <a:r>
              <a:rPr lang="da-DK" sz="1600" dirty="0" smtClean="0">
                <a:latin typeface="Consolas" panose="020B0609020204030204" pitchFamily="49" charset="0"/>
              </a:rPr>
              <a:t>()</a:t>
            </a:r>
            <a:endParaRPr lang="da-DK" sz="1600" dirty="0">
              <a:latin typeface="Consolas" panose="020B0609020204030204" pitchFamily="49" charset="0"/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 flipH="1" flipV="1">
            <a:off x="4788024" y="5229200"/>
            <a:ext cx="273372" cy="58289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157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Some properties of C# interfaces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ts val="3000"/>
              </a:lnSpc>
              <a:spcBef>
                <a:spcPts val="600"/>
              </a:spcBef>
            </a:pPr>
            <a:r>
              <a:rPr lang="en-GB" sz="2400" dirty="0" smtClean="0"/>
              <a:t>A C# </a:t>
            </a:r>
            <a:r>
              <a:rPr lang="en-GB" sz="2400" dirty="0"/>
              <a:t>interface </a:t>
            </a:r>
            <a:r>
              <a:rPr lang="en-GB" sz="2400" dirty="0" smtClean="0"/>
              <a:t>is like </a:t>
            </a:r>
            <a:r>
              <a:rPr lang="en-GB" sz="2400" dirty="0"/>
              <a:t>an </a:t>
            </a:r>
            <a:r>
              <a:rPr lang="en-GB" sz="2400" b="1" dirty="0"/>
              <a:t>abstract</a:t>
            </a:r>
            <a:r>
              <a:rPr lang="en-GB" sz="2400" dirty="0"/>
              <a:t> base class: </a:t>
            </a:r>
            <a:r>
              <a:rPr lang="en-GB" sz="2400" dirty="0" smtClean="0"/>
              <a:t>Any </a:t>
            </a:r>
            <a:r>
              <a:rPr lang="en-GB" sz="2400" dirty="0"/>
              <a:t>non-abstract type that implements the interface </a:t>
            </a:r>
            <a:r>
              <a:rPr lang="en-GB" sz="2400" b="1" dirty="0"/>
              <a:t>must</a:t>
            </a:r>
            <a:r>
              <a:rPr lang="en-GB" sz="2400" dirty="0"/>
              <a:t> implement </a:t>
            </a:r>
            <a:r>
              <a:rPr lang="en-GB" sz="2400" b="1" i="1" dirty="0"/>
              <a:t>all</a:t>
            </a:r>
            <a:r>
              <a:rPr lang="en-GB" sz="2400" dirty="0"/>
              <a:t> </a:t>
            </a:r>
            <a:r>
              <a:rPr lang="en-GB" sz="2400" dirty="0" smtClean="0"/>
              <a:t>members.</a:t>
            </a:r>
          </a:p>
          <a:p>
            <a:pPr>
              <a:lnSpc>
                <a:spcPts val="3000"/>
              </a:lnSpc>
              <a:spcBef>
                <a:spcPts val="600"/>
              </a:spcBef>
            </a:pPr>
            <a:r>
              <a:rPr lang="en-GB" sz="2400" dirty="0" smtClean="0"/>
              <a:t>An </a:t>
            </a:r>
            <a:r>
              <a:rPr lang="en-GB" sz="2400" dirty="0"/>
              <a:t>interface </a:t>
            </a:r>
            <a:r>
              <a:rPr lang="en-GB" sz="2400" b="1" dirty="0"/>
              <a:t>cannot</a:t>
            </a:r>
            <a:r>
              <a:rPr lang="en-GB" sz="2400" dirty="0"/>
              <a:t> be instantiated </a:t>
            </a:r>
            <a:r>
              <a:rPr lang="en-GB" sz="2400" dirty="0" smtClean="0"/>
              <a:t>directly.</a:t>
            </a:r>
          </a:p>
          <a:p>
            <a:pPr>
              <a:lnSpc>
                <a:spcPts val="3000"/>
              </a:lnSpc>
              <a:spcBef>
                <a:spcPts val="600"/>
              </a:spcBef>
            </a:pPr>
            <a:r>
              <a:rPr lang="en-GB" sz="2400" dirty="0" smtClean="0"/>
              <a:t>Interfaces </a:t>
            </a:r>
            <a:r>
              <a:rPr lang="en-GB" sz="2400" dirty="0"/>
              <a:t>can contain </a:t>
            </a:r>
            <a:r>
              <a:rPr lang="en-GB" sz="2400" b="1" dirty="0"/>
              <a:t>events</a:t>
            </a:r>
            <a:r>
              <a:rPr lang="en-GB" sz="2400" dirty="0"/>
              <a:t>, indexers, </a:t>
            </a:r>
            <a:r>
              <a:rPr lang="en-GB" sz="2400" b="1" dirty="0"/>
              <a:t>methods</a:t>
            </a:r>
            <a:r>
              <a:rPr lang="en-GB" sz="2400" dirty="0"/>
              <a:t>, and </a:t>
            </a:r>
            <a:r>
              <a:rPr lang="en-GB" sz="2400" b="1" dirty="0"/>
              <a:t>properties</a:t>
            </a:r>
            <a:r>
              <a:rPr lang="en-GB" sz="2400" dirty="0"/>
              <a:t>.</a:t>
            </a:r>
          </a:p>
          <a:p>
            <a:pPr>
              <a:lnSpc>
                <a:spcPts val="3000"/>
              </a:lnSpc>
              <a:spcBef>
                <a:spcPts val="600"/>
              </a:spcBef>
            </a:pPr>
            <a:r>
              <a:rPr lang="en-GB" sz="2400" dirty="0"/>
              <a:t>Interfaces </a:t>
            </a:r>
            <a:r>
              <a:rPr lang="en-GB" sz="2400" b="1" dirty="0" smtClean="0"/>
              <a:t>cannot</a:t>
            </a:r>
            <a:r>
              <a:rPr lang="en-GB" sz="2400" dirty="0" smtClean="0"/>
              <a:t> contain implementation </a:t>
            </a:r>
            <a:r>
              <a:rPr lang="en-GB" sz="2400" dirty="0"/>
              <a:t>of methods</a:t>
            </a:r>
            <a:r>
              <a:rPr lang="en-GB" sz="2400" dirty="0" smtClean="0"/>
              <a:t>.</a:t>
            </a:r>
          </a:p>
          <a:p>
            <a:pPr>
              <a:lnSpc>
                <a:spcPts val="3000"/>
              </a:lnSpc>
              <a:spcBef>
                <a:spcPts val="600"/>
              </a:spcBef>
            </a:pPr>
            <a:r>
              <a:rPr lang="en-GB" sz="2400" dirty="0" smtClean="0"/>
              <a:t>Interfaces </a:t>
            </a:r>
            <a:r>
              <a:rPr lang="en-GB" sz="2400" b="1" dirty="0" smtClean="0"/>
              <a:t>cannot</a:t>
            </a:r>
            <a:r>
              <a:rPr lang="en-GB" sz="2400" dirty="0" smtClean="0"/>
              <a:t> contain member variables, </a:t>
            </a:r>
            <a:r>
              <a:rPr lang="en-GB" sz="2400" b="1" dirty="0" smtClean="0"/>
              <a:t>only</a:t>
            </a:r>
            <a:r>
              <a:rPr lang="en-GB" sz="2400" dirty="0" smtClean="0"/>
              <a:t> properties</a:t>
            </a:r>
            <a:endParaRPr lang="en-GB" sz="2400" dirty="0"/>
          </a:p>
          <a:p>
            <a:pPr>
              <a:lnSpc>
                <a:spcPts val="3000"/>
              </a:lnSpc>
              <a:spcBef>
                <a:spcPts val="600"/>
              </a:spcBef>
            </a:pPr>
            <a:r>
              <a:rPr lang="en-GB" sz="2400" dirty="0"/>
              <a:t>Classes and </a:t>
            </a:r>
            <a:r>
              <a:rPr lang="en-GB" sz="2400" dirty="0" err="1"/>
              <a:t>structs</a:t>
            </a:r>
            <a:r>
              <a:rPr lang="en-GB" sz="2400" dirty="0"/>
              <a:t> can implement </a:t>
            </a:r>
            <a:r>
              <a:rPr lang="en-GB" sz="2400" b="1" dirty="0" smtClean="0"/>
              <a:t>multiple</a:t>
            </a:r>
            <a:r>
              <a:rPr lang="en-GB" sz="2400" dirty="0" smtClean="0"/>
              <a:t> interfaces.</a:t>
            </a:r>
            <a:endParaRPr lang="en-GB" sz="2400" dirty="0"/>
          </a:p>
          <a:p>
            <a:pPr>
              <a:lnSpc>
                <a:spcPts val="3000"/>
              </a:lnSpc>
              <a:spcBef>
                <a:spcPts val="600"/>
              </a:spcBef>
            </a:pPr>
            <a:r>
              <a:rPr lang="en-GB" sz="2400" dirty="0"/>
              <a:t>An interface itself </a:t>
            </a:r>
            <a:r>
              <a:rPr lang="en-GB" sz="2400" b="1" dirty="0" smtClean="0"/>
              <a:t>can</a:t>
            </a:r>
            <a:r>
              <a:rPr lang="en-GB" sz="2400" dirty="0" smtClean="0"/>
              <a:t> itself </a:t>
            </a:r>
            <a:r>
              <a:rPr lang="en-GB" sz="2400" b="1" dirty="0"/>
              <a:t>inherit</a:t>
            </a:r>
            <a:r>
              <a:rPr lang="en-GB" sz="2400" dirty="0"/>
              <a:t> from </a:t>
            </a:r>
            <a:r>
              <a:rPr lang="en-GB" sz="2400" dirty="0" smtClean="0"/>
              <a:t>one or multiple </a:t>
            </a:r>
            <a:r>
              <a:rPr lang="en-GB" sz="2400" b="1" dirty="0"/>
              <a:t>interface</a:t>
            </a:r>
            <a:r>
              <a:rPr lang="en-GB" sz="2400" dirty="0"/>
              <a:t>s</a:t>
            </a:r>
            <a:r>
              <a:rPr lang="en-GB" sz="24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35613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Interfaces in UML</a:t>
            </a:r>
            <a:endParaRPr 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1972" y="2132857"/>
            <a:ext cx="2743995" cy="756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Group 4"/>
          <p:cNvGrpSpPr>
            <a:grpSpLocks noChangeAspect="1"/>
          </p:cNvGrpSpPr>
          <p:nvPr/>
        </p:nvGrpSpPr>
        <p:grpSpPr bwMode="auto">
          <a:xfrm>
            <a:off x="611188" y="2133600"/>
            <a:ext cx="3971925" cy="1943100"/>
            <a:chOff x="385" y="1344"/>
            <a:chExt cx="2502" cy="1224"/>
          </a:xfrm>
        </p:grpSpPr>
        <p:sp>
          <p:nvSpPr>
            <p:cNvPr id="4" name="AutoShape 3"/>
            <p:cNvSpPr>
              <a:spLocks noChangeAspect="1" noChangeArrowheads="1" noTextEdit="1"/>
            </p:cNvSpPr>
            <p:nvPr/>
          </p:nvSpPr>
          <p:spPr bwMode="auto">
            <a:xfrm>
              <a:off x="385" y="1344"/>
              <a:ext cx="2502" cy="1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395" y="1365"/>
              <a:ext cx="668" cy="382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521" y="1505"/>
              <a:ext cx="490" cy="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GraphicsApp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" name="Line 7"/>
            <p:cNvSpPr>
              <a:spLocks noChangeShapeType="1"/>
            </p:cNvSpPr>
            <p:nvPr/>
          </p:nvSpPr>
          <p:spPr bwMode="auto">
            <a:xfrm>
              <a:off x="1063" y="1556"/>
              <a:ext cx="525" cy="0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8"/>
            <p:cNvSpPr>
              <a:spLocks/>
            </p:cNvSpPr>
            <p:nvPr/>
          </p:nvSpPr>
          <p:spPr bwMode="auto">
            <a:xfrm>
              <a:off x="1566" y="1534"/>
              <a:ext cx="22" cy="44"/>
            </a:xfrm>
            <a:custGeom>
              <a:avLst/>
              <a:gdLst>
                <a:gd name="T0" fmla="*/ 0 w 22"/>
                <a:gd name="T1" fmla="*/ 44 h 44"/>
                <a:gd name="T2" fmla="*/ 22 w 22"/>
                <a:gd name="T3" fmla="*/ 22 h 44"/>
                <a:gd name="T4" fmla="*/ 0 w 22"/>
                <a:gd name="T5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" h="44">
                  <a:moveTo>
                    <a:pt x="0" y="44"/>
                  </a:moveTo>
                  <a:lnTo>
                    <a:pt x="22" y="22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1588" y="1365"/>
              <a:ext cx="669" cy="191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1734" y="1359"/>
              <a:ext cx="445" cy="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«interface»</a:t>
              </a:r>
              <a:endPara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" name="Rectangle 11"/>
            <p:cNvSpPr>
              <a:spLocks noChangeArrowheads="1"/>
            </p:cNvSpPr>
            <p:nvPr/>
          </p:nvSpPr>
          <p:spPr bwMode="auto">
            <a:xfrm>
              <a:off x="1809" y="1460"/>
              <a:ext cx="219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1" u="none" strike="noStrike" cap="none" normalizeH="0" baseline="0" dirty="0" err="1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IShape</a:t>
              </a:r>
              <a:endParaRPr kumimoji="0" lang="en-US" altLang="en-US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2" name="Rectangle 12"/>
            <p:cNvSpPr>
              <a:spLocks noChangeArrowheads="1"/>
            </p:cNvSpPr>
            <p:nvPr/>
          </p:nvSpPr>
          <p:spPr bwMode="auto">
            <a:xfrm>
              <a:off x="1588" y="1556"/>
              <a:ext cx="669" cy="287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1617" y="1581"/>
              <a:ext cx="86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+ 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4" name="Rectangle 14"/>
            <p:cNvSpPr>
              <a:spLocks noChangeArrowheads="1"/>
            </p:cNvSpPr>
            <p:nvPr/>
          </p:nvSpPr>
          <p:spPr bwMode="auto">
            <a:xfrm>
              <a:off x="1663" y="1581"/>
              <a:ext cx="273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GetArea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" name="Rectangle 15"/>
            <p:cNvSpPr>
              <a:spLocks noChangeArrowheads="1"/>
            </p:cNvSpPr>
            <p:nvPr/>
          </p:nvSpPr>
          <p:spPr bwMode="auto">
            <a:xfrm>
              <a:off x="1890" y="1581"/>
              <a:ext cx="111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(): 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" name="Rectangle 16"/>
            <p:cNvSpPr>
              <a:spLocks noChangeArrowheads="1"/>
            </p:cNvSpPr>
            <p:nvPr/>
          </p:nvSpPr>
          <p:spPr bwMode="auto">
            <a:xfrm>
              <a:off x="1966" y="1581"/>
              <a:ext cx="253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double 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7" name="Rectangle 17"/>
            <p:cNvSpPr>
              <a:spLocks noChangeArrowheads="1"/>
            </p:cNvSpPr>
            <p:nvPr/>
          </p:nvSpPr>
          <p:spPr bwMode="auto">
            <a:xfrm>
              <a:off x="1617" y="1662"/>
              <a:ext cx="86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+ 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8" name="Rectangle 18"/>
            <p:cNvSpPr>
              <a:spLocks noChangeArrowheads="1"/>
            </p:cNvSpPr>
            <p:nvPr/>
          </p:nvSpPr>
          <p:spPr bwMode="auto">
            <a:xfrm>
              <a:off x="1663" y="1662"/>
              <a:ext cx="227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Center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9" name="Rectangle 19"/>
            <p:cNvSpPr>
              <a:spLocks noChangeArrowheads="1"/>
            </p:cNvSpPr>
            <p:nvPr/>
          </p:nvSpPr>
          <p:spPr bwMode="auto">
            <a:xfrm>
              <a:off x="1850" y="1662"/>
              <a:ext cx="71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: </a:t>
              </a:r>
              <a:endPara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" name="Rectangle 20"/>
            <p:cNvSpPr>
              <a:spLocks noChangeArrowheads="1"/>
            </p:cNvSpPr>
            <p:nvPr/>
          </p:nvSpPr>
          <p:spPr bwMode="auto">
            <a:xfrm>
              <a:off x="1880" y="1662"/>
              <a:ext cx="227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Coord 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" name="Rectangle 21"/>
            <p:cNvSpPr>
              <a:spLocks noChangeArrowheads="1"/>
            </p:cNvSpPr>
            <p:nvPr/>
          </p:nvSpPr>
          <p:spPr bwMode="auto">
            <a:xfrm>
              <a:off x="2062" y="1662"/>
              <a:ext cx="56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{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" name="Rectangle 22"/>
            <p:cNvSpPr>
              <a:spLocks noChangeArrowheads="1"/>
            </p:cNvSpPr>
            <p:nvPr/>
          </p:nvSpPr>
          <p:spPr bwMode="auto">
            <a:xfrm>
              <a:off x="2082" y="1662"/>
              <a:ext cx="126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get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3" name="Rectangle 23"/>
            <p:cNvSpPr>
              <a:spLocks noChangeArrowheads="1"/>
            </p:cNvSpPr>
            <p:nvPr/>
          </p:nvSpPr>
          <p:spPr bwMode="auto">
            <a:xfrm>
              <a:off x="2173" y="1662"/>
              <a:ext cx="56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}</a:t>
              </a:r>
              <a:endPara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4" name="Rectangle 24"/>
            <p:cNvSpPr>
              <a:spLocks noChangeArrowheads="1"/>
            </p:cNvSpPr>
            <p:nvPr/>
          </p:nvSpPr>
          <p:spPr bwMode="auto">
            <a:xfrm>
              <a:off x="968" y="2319"/>
              <a:ext cx="668" cy="239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Rectangle 25"/>
            <p:cNvSpPr>
              <a:spLocks noChangeArrowheads="1"/>
            </p:cNvSpPr>
            <p:nvPr/>
          </p:nvSpPr>
          <p:spPr bwMode="auto">
            <a:xfrm>
              <a:off x="1188" y="2389"/>
              <a:ext cx="288" cy="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Square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6" name="Freeform 26"/>
            <p:cNvSpPr>
              <a:spLocks noEditPoints="1"/>
            </p:cNvSpPr>
            <p:nvPr/>
          </p:nvSpPr>
          <p:spPr bwMode="auto">
            <a:xfrm>
              <a:off x="1299" y="1886"/>
              <a:ext cx="437" cy="436"/>
            </a:xfrm>
            <a:custGeom>
              <a:avLst/>
              <a:gdLst>
                <a:gd name="T0" fmla="*/ 82 w 1382"/>
                <a:gd name="T1" fmla="*/ 1287 h 1381"/>
                <a:gd name="T2" fmla="*/ 94 w 1382"/>
                <a:gd name="T3" fmla="*/ 1299 h 1381"/>
                <a:gd name="T4" fmla="*/ 3 w 1382"/>
                <a:gd name="T5" fmla="*/ 1378 h 1381"/>
                <a:gd name="T6" fmla="*/ 139 w 1382"/>
                <a:gd name="T7" fmla="*/ 1231 h 1381"/>
                <a:gd name="T8" fmla="*/ 230 w 1382"/>
                <a:gd name="T9" fmla="*/ 1152 h 1381"/>
                <a:gd name="T10" fmla="*/ 150 w 1382"/>
                <a:gd name="T11" fmla="*/ 1242 h 1381"/>
                <a:gd name="T12" fmla="*/ 139 w 1382"/>
                <a:gd name="T13" fmla="*/ 1231 h 1381"/>
                <a:gd name="T14" fmla="*/ 354 w 1382"/>
                <a:gd name="T15" fmla="*/ 1016 h 1381"/>
                <a:gd name="T16" fmla="*/ 365 w 1382"/>
                <a:gd name="T17" fmla="*/ 1027 h 1381"/>
                <a:gd name="T18" fmla="*/ 275 w 1382"/>
                <a:gd name="T19" fmla="*/ 1106 h 1381"/>
                <a:gd name="T20" fmla="*/ 411 w 1382"/>
                <a:gd name="T21" fmla="*/ 959 h 1381"/>
                <a:gd name="T22" fmla="*/ 501 w 1382"/>
                <a:gd name="T23" fmla="*/ 880 h 1381"/>
                <a:gd name="T24" fmla="*/ 422 w 1382"/>
                <a:gd name="T25" fmla="*/ 971 h 1381"/>
                <a:gd name="T26" fmla="*/ 411 w 1382"/>
                <a:gd name="T27" fmla="*/ 959 h 1381"/>
                <a:gd name="T28" fmla="*/ 626 w 1382"/>
                <a:gd name="T29" fmla="*/ 744 h 1381"/>
                <a:gd name="T30" fmla="*/ 637 w 1382"/>
                <a:gd name="T31" fmla="*/ 756 h 1381"/>
                <a:gd name="T32" fmla="*/ 546 w 1382"/>
                <a:gd name="T33" fmla="*/ 835 h 1381"/>
                <a:gd name="T34" fmla="*/ 682 w 1382"/>
                <a:gd name="T35" fmla="*/ 688 h 1381"/>
                <a:gd name="T36" fmla="*/ 773 w 1382"/>
                <a:gd name="T37" fmla="*/ 609 h 1381"/>
                <a:gd name="T38" fmla="*/ 693 w 1382"/>
                <a:gd name="T39" fmla="*/ 699 h 1381"/>
                <a:gd name="T40" fmla="*/ 682 w 1382"/>
                <a:gd name="T41" fmla="*/ 688 h 1381"/>
                <a:gd name="T42" fmla="*/ 897 w 1382"/>
                <a:gd name="T43" fmla="*/ 473 h 1381"/>
                <a:gd name="T44" fmla="*/ 908 w 1382"/>
                <a:gd name="T45" fmla="*/ 484 h 1381"/>
                <a:gd name="T46" fmla="*/ 818 w 1382"/>
                <a:gd name="T47" fmla="*/ 563 h 1381"/>
                <a:gd name="T48" fmla="*/ 954 w 1382"/>
                <a:gd name="T49" fmla="*/ 416 h 1381"/>
                <a:gd name="T50" fmla="*/ 1044 w 1382"/>
                <a:gd name="T51" fmla="*/ 337 h 1381"/>
                <a:gd name="T52" fmla="*/ 965 w 1382"/>
                <a:gd name="T53" fmla="*/ 428 h 1381"/>
                <a:gd name="T54" fmla="*/ 954 w 1382"/>
                <a:gd name="T55" fmla="*/ 416 h 1381"/>
                <a:gd name="T56" fmla="*/ 1169 w 1382"/>
                <a:gd name="T57" fmla="*/ 201 h 1381"/>
                <a:gd name="T58" fmla="*/ 1180 w 1382"/>
                <a:gd name="T59" fmla="*/ 213 h 1381"/>
                <a:gd name="T60" fmla="*/ 1089 w 1382"/>
                <a:gd name="T61" fmla="*/ 292 h 1381"/>
                <a:gd name="T62" fmla="*/ 1225 w 1382"/>
                <a:gd name="T63" fmla="*/ 145 h 1381"/>
                <a:gd name="T64" fmla="*/ 1316 w 1382"/>
                <a:gd name="T65" fmla="*/ 66 h 1381"/>
                <a:gd name="T66" fmla="*/ 1236 w 1382"/>
                <a:gd name="T67" fmla="*/ 156 h 1381"/>
                <a:gd name="T68" fmla="*/ 1225 w 1382"/>
                <a:gd name="T69" fmla="*/ 145 h 1381"/>
                <a:gd name="T70" fmla="*/ 1367 w 1382"/>
                <a:gd name="T71" fmla="*/ 3 h 1381"/>
                <a:gd name="T72" fmla="*/ 1378 w 1382"/>
                <a:gd name="T73" fmla="*/ 14 h 1381"/>
                <a:gd name="T74" fmla="*/ 1361 w 1382"/>
                <a:gd name="T75" fmla="*/ 20 h 1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82" h="1381">
                  <a:moveTo>
                    <a:pt x="3" y="1367"/>
                  </a:moveTo>
                  <a:lnTo>
                    <a:pt x="82" y="1287"/>
                  </a:lnTo>
                  <a:cubicBezTo>
                    <a:pt x="86" y="1284"/>
                    <a:pt x="91" y="1284"/>
                    <a:pt x="94" y="1287"/>
                  </a:cubicBezTo>
                  <a:cubicBezTo>
                    <a:pt x="97" y="1291"/>
                    <a:pt x="97" y="1296"/>
                    <a:pt x="94" y="1299"/>
                  </a:cubicBezTo>
                  <a:lnTo>
                    <a:pt x="15" y="1378"/>
                  </a:lnTo>
                  <a:cubicBezTo>
                    <a:pt x="11" y="1381"/>
                    <a:pt x="6" y="1381"/>
                    <a:pt x="3" y="1378"/>
                  </a:cubicBezTo>
                  <a:cubicBezTo>
                    <a:pt x="0" y="1375"/>
                    <a:pt x="0" y="1370"/>
                    <a:pt x="3" y="1367"/>
                  </a:cubicBezTo>
                  <a:close/>
                  <a:moveTo>
                    <a:pt x="139" y="1231"/>
                  </a:moveTo>
                  <a:lnTo>
                    <a:pt x="218" y="1152"/>
                  </a:lnTo>
                  <a:cubicBezTo>
                    <a:pt x="221" y="1149"/>
                    <a:pt x="226" y="1149"/>
                    <a:pt x="230" y="1152"/>
                  </a:cubicBezTo>
                  <a:cubicBezTo>
                    <a:pt x="233" y="1155"/>
                    <a:pt x="233" y="1160"/>
                    <a:pt x="230" y="1163"/>
                  </a:cubicBezTo>
                  <a:lnTo>
                    <a:pt x="150" y="1242"/>
                  </a:lnTo>
                  <a:cubicBezTo>
                    <a:pt x="147" y="1245"/>
                    <a:pt x="142" y="1245"/>
                    <a:pt x="139" y="1242"/>
                  </a:cubicBezTo>
                  <a:cubicBezTo>
                    <a:pt x="136" y="1239"/>
                    <a:pt x="136" y="1234"/>
                    <a:pt x="139" y="1231"/>
                  </a:cubicBezTo>
                  <a:close/>
                  <a:moveTo>
                    <a:pt x="275" y="1095"/>
                  </a:moveTo>
                  <a:lnTo>
                    <a:pt x="354" y="1016"/>
                  </a:lnTo>
                  <a:cubicBezTo>
                    <a:pt x="357" y="1013"/>
                    <a:pt x="362" y="1013"/>
                    <a:pt x="365" y="1016"/>
                  </a:cubicBezTo>
                  <a:cubicBezTo>
                    <a:pt x="368" y="1019"/>
                    <a:pt x="368" y="1024"/>
                    <a:pt x="365" y="1027"/>
                  </a:cubicBezTo>
                  <a:lnTo>
                    <a:pt x="286" y="1106"/>
                  </a:lnTo>
                  <a:cubicBezTo>
                    <a:pt x="283" y="1110"/>
                    <a:pt x="278" y="1110"/>
                    <a:pt x="275" y="1106"/>
                  </a:cubicBezTo>
                  <a:cubicBezTo>
                    <a:pt x="272" y="1103"/>
                    <a:pt x="272" y="1098"/>
                    <a:pt x="275" y="1095"/>
                  </a:cubicBezTo>
                  <a:close/>
                  <a:moveTo>
                    <a:pt x="411" y="959"/>
                  </a:moveTo>
                  <a:lnTo>
                    <a:pt x="490" y="880"/>
                  </a:lnTo>
                  <a:cubicBezTo>
                    <a:pt x="493" y="877"/>
                    <a:pt x="498" y="877"/>
                    <a:pt x="501" y="880"/>
                  </a:cubicBezTo>
                  <a:cubicBezTo>
                    <a:pt x="504" y="883"/>
                    <a:pt x="504" y="888"/>
                    <a:pt x="501" y="891"/>
                  </a:cubicBezTo>
                  <a:lnTo>
                    <a:pt x="422" y="971"/>
                  </a:lnTo>
                  <a:cubicBezTo>
                    <a:pt x="419" y="974"/>
                    <a:pt x="414" y="974"/>
                    <a:pt x="411" y="971"/>
                  </a:cubicBezTo>
                  <a:cubicBezTo>
                    <a:pt x="407" y="968"/>
                    <a:pt x="407" y="963"/>
                    <a:pt x="411" y="959"/>
                  </a:cubicBezTo>
                  <a:close/>
                  <a:moveTo>
                    <a:pt x="546" y="824"/>
                  </a:moveTo>
                  <a:lnTo>
                    <a:pt x="626" y="744"/>
                  </a:lnTo>
                  <a:cubicBezTo>
                    <a:pt x="629" y="741"/>
                    <a:pt x="634" y="741"/>
                    <a:pt x="637" y="744"/>
                  </a:cubicBezTo>
                  <a:cubicBezTo>
                    <a:pt x="640" y="748"/>
                    <a:pt x="640" y="753"/>
                    <a:pt x="637" y="756"/>
                  </a:cubicBezTo>
                  <a:lnTo>
                    <a:pt x="558" y="835"/>
                  </a:lnTo>
                  <a:cubicBezTo>
                    <a:pt x="554" y="838"/>
                    <a:pt x="549" y="838"/>
                    <a:pt x="546" y="835"/>
                  </a:cubicBezTo>
                  <a:cubicBezTo>
                    <a:pt x="543" y="832"/>
                    <a:pt x="543" y="827"/>
                    <a:pt x="546" y="824"/>
                  </a:cubicBezTo>
                  <a:close/>
                  <a:moveTo>
                    <a:pt x="682" y="688"/>
                  </a:moveTo>
                  <a:lnTo>
                    <a:pt x="761" y="609"/>
                  </a:lnTo>
                  <a:cubicBezTo>
                    <a:pt x="764" y="606"/>
                    <a:pt x="769" y="606"/>
                    <a:pt x="773" y="609"/>
                  </a:cubicBezTo>
                  <a:cubicBezTo>
                    <a:pt x="776" y="612"/>
                    <a:pt x="776" y="617"/>
                    <a:pt x="773" y="620"/>
                  </a:cubicBezTo>
                  <a:lnTo>
                    <a:pt x="693" y="699"/>
                  </a:lnTo>
                  <a:cubicBezTo>
                    <a:pt x="690" y="702"/>
                    <a:pt x="685" y="702"/>
                    <a:pt x="682" y="699"/>
                  </a:cubicBezTo>
                  <a:cubicBezTo>
                    <a:pt x="679" y="696"/>
                    <a:pt x="679" y="691"/>
                    <a:pt x="682" y="688"/>
                  </a:cubicBezTo>
                  <a:close/>
                  <a:moveTo>
                    <a:pt x="818" y="552"/>
                  </a:moveTo>
                  <a:lnTo>
                    <a:pt x="897" y="473"/>
                  </a:lnTo>
                  <a:cubicBezTo>
                    <a:pt x="900" y="470"/>
                    <a:pt x="905" y="470"/>
                    <a:pt x="908" y="473"/>
                  </a:cubicBezTo>
                  <a:cubicBezTo>
                    <a:pt x="911" y="476"/>
                    <a:pt x="911" y="481"/>
                    <a:pt x="908" y="484"/>
                  </a:cubicBezTo>
                  <a:lnTo>
                    <a:pt x="829" y="563"/>
                  </a:lnTo>
                  <a:cubicBezTo>
                    <a:pt x="826" y="567"/>
                    <a:pt x="821" y="567"/>
                    <a:pt x="818" y="563"/>
                  </a:cubicBezTo>
                  <a:cubicBezTo>
                    <a:pt x="815" y="560"/>
                    <a:pt x="815" y="555"/>
                    <a:pt x="818" y="552"/>
                  </a:cubicBezTo>
                  <a:close/>
                  <a:moveTo>
                    <a:pt x="954" y="416"/>
                  </a:moveTo>
                  <a:lnTo>
                    <a:pt x="1033" y="337"/>
                  </a:lnTo>
                  <a:cubicBezTo>
                    <a:pt x="1036" y="334"/>
                    <a:pt x="1041" y="334"/>
                    <a:pt x="1044" y="337"/>
                  </a:cubicBezTo>
                  <a:cubicBezTo>
                    <a:pt x="1047" y="340"/>
                    <a:pt x="1047" y="345"/>
                    <a:pt x="1044" y="348"/>
                  </a:cubicBezTo>
                  <a:lnTo>
                    <a:pt x="965" y="428"/>
                  </a:lnTo>
                  <a:cubicBezTo>
                    <a:pt x="962" y="431"/>
                    <a:pt x="957" y="431"/>
                    <a:pt x="954" y="428"/>
                  </a:cubicBezTo>
                  <a:cubicBezTo>
                    <a:pt x="950" y="425"/>
                    <a:pt x="950" y="419"/>
                    <a:pt x="954" y="416"/>
                  </a:cubicBezTo>
                  <a:close/>
                  <a:moveTo>
                    <a:pt x="1089" y="281"/>
                  </a:moveTo>
                  <a:lnTo>
                    <a:pt x="1169" y="201"/>
                  </a:lnTo>
                  <a:cubicBezTo>
                    <a:pt x="1172" y="198"/>
                    <a:pt x="1177" y="198"/>
                    <a:pt x="1180" y="201"/>
                  </a:cubicBezTo>
                  <a:cubicBezTo>
                    <a:pt x="1183" y="204"/>
                    <a:pt x="1183" y="210"/>
                    <a:pt x="1180" y="213"/>
                  </a:cubicBezTo>
                  <a:lnTo>
                    <a:pt x="1101" y="292"/>
                  </a:lnTo>
                  <a:cubicBezTo>
                    <a:pt x="1098" y="295"/>
                    <a:pt x="1092" y="295"/>
                    <a:pt x="1089" y="292"/>
                  </a:cubicBezTo>
                  <a:cubicBezTo>
                    <a:pt x="1086" y="289"/>
                    <a:pt x="1086" y="284"/>
                    <a:pt x="1089" y="281"/>
                  </a:cubicBezTo>
                  <a:close/>
                  <a:moveTo>
                    <a:pt x="1225" y="145"/>
                  </a:moveTo>
                  <a:lnTo>
                    <a:pt x="1304" y="66"/>
                  </a:lnTo>
                  <a:cubicBezTo>
                    <a:pt x="1307" y="62"/>
                    <a:pt x="1313" y="62"/>
                    <a:pt x="1316" y="66"/>
                  </a:cubicBezTo>
                  <a:cubicBezTo>
                    <a:pt x="1319" y="69"/>
                    <a:pt x="1319" y="74"/>
                    <a:pt x="1316" y="77"/>
                  </a:cubicBezTo>
                  <a:lnTo>
                    <a:pt x="1236" y="156"/>
                  </a:lnTo>
                  <a:cubicBezTo>
                    <a:pt x="1233" y="159"/>
                    <a:pt x="1228" y="159"/>
                    <a:pt x="1225" y="156"/>
                  </a:cubicBezTo>
                  <a:cubicBezTo>
                    <a:pt x="1222" y="153"/>
                    <a:pt x="1222" y="148"/>
                    <a:pt x="1225" y="145"/>
                  </a:cubicBezTo>
                  <a:close/>
                  <a:moveTo>
                    <a:pt x="1361" y="9"/>
                  </a:moveTo>
                  <a:lnTo>
                    <a:pt x="1367" y="3"/>
                  </a:lnTo>
                  <a:cubicBezTo>
                    <a:pt x="1370" y="0"/>
                    <a:pt x="1375" y="0"/>
                    <a:pt x="1378" y="3"/>
                  </a:cubicBezTo>
                  <a:cubicBezTo>
                    <a:pt x="1382" y="6"/>
                    <a:pt x="1382" y="11"/>
                    <a:pt x="1378" y="14"/>
                  </a:cubicBezTo>
                  <a:lnTo>
                    <a:pt x="1372" y="20"/>
                  </a:lnTo>
                  <a:cubicBezTo>
                    <a:pt x="1369" y="23"/>
                    <a:pt x="1364" y="23"/>
                    <a:pt x="1361" y="20"/>
                  </a:cubicBezTo>
                  <a:cubicBezTo>
                    <a:pt x="1358" y="17"/>
                    <a:pt x="1358" y="12"/>
                    <a:pt x="1361" y="9"/>
                  </a:cubicBezTo>
                  <a:close/>
                </a:path>
              </a:pathLst>
            </a:custGeom>
            <a:solidFill>
              <a:srgbClr val="000000"/>
            </a:solidFill>
            <a:ln w="7938" cap="flat">
              <a:solidFill>
                <a:srgbClr val="000000"/>
              </a:solidFill>
              <a:prstDash val="solid"/>
              <a:bevel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7"/>
            <p:cNvSpPr>
              <a:spLocks/>
            </p:cNvSpPr>
            <p:nvPr/>
          </p:nvSpPr>
          <p:spPr bwMode="auto">
            <a:xfrm>
              <a:off x="1717" y="1843"/>
              <a:ext cx="62" cy="62"/>
            </a:xfrm>
            <a:custGeom>
              <a:avLst/>
              <a:gdLst>
                <a:gd name="T0" fmla="*/ 31 w 62"/>
                <a:gd name="T1" fmla="*/ 62 h 62"/>
                <a:gd name="T2" fmla="*/ 62 w 62"/>
                <a:gd name="T3" fmla="*/ 0 h 62"/>
                <a:gd name="T4" fmla="*/ 0 w 62"/>
                <a:gd name="T5" fmla="*/ 31 h 62"/>
                <a:gd name="T6" fmla="*/ 31 w 62"/>
                <a:gd name="T7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2" h="62">
                  <a:moveTo>
                    <a:pt x="31" y="62"/>
                  </a:moveTo>
                  <a:lnTo>
                    <a:pt x="62" y="0"/>
                  </a:lnTo>
                  <a:lnTo>
                    <a:pt x="0" y="31"/>
                  </a:lnTo>
                  <a:lnTo>
                    <a:pt x="31" y="62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Rectangle 28"/>
            <p:cNvSpPr>
              <a:spLocks noChangeArrowheads="1"/>
            </p:cNvSpPr>
            <p:nvPr/>
          </p:nvSpPr>
          <p:spPr bwMode="auto">
            <a:xfrm>
              <a:off x="2209" y="2319"/>
              <a:ext cx="668" cy="239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Rectangle 29"/>
            <p:cNvSpPr>
              <a:spLocks noChangeArrowheads="1"/>
            </p:cNvSpPr>
            <p:nvPr/>
          </p:nvSpPr>
          <p:spPr bwMode="auto">
            <a:xfrm>
              <a:off x="2451" y="2389"/>
              <a:ext cx="242" cy="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Circle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0" name="Freeform 30"/>
            <p:cNvSpPr>
              <a:spLocks noEditPoints="1"/>
            </p:cNvSpPr>
            <p:nvPr/>
          </p:nvSpPr>
          <p:spPr bwMode="auto">
            <a:xfrm>
              <a:off x="2110" y="1886"/>
              <a:ext cx="436" cy="436"/>
            </a:xfrm>
            <a:custGeom>
              <a:avLst/>
              <a:gdLst>
                <a:gd name="T0" fmla="*/ 1288 w 1381"/>
                <a:gd name="T1" fmla="*/ 1299 h 1381"/>
                <a:gd name="T2" fmla="*/ 1299 w 1381"/>
                <a:gd name="T3" fmla="*/ 1287 h 1381"/>
                <a:gd name="T4" fmla="*/ 1378 w 1381"/>
                <a:gd name="T5" fmla="*/ 1378 h 1381"/>
                <a:gd name="T6" fmla="*/ 1231 w 1381"/>
                <a:gd name="T7" fmla="*/ 1242 h 1381"/>
                <a:gd name="T8" fmla="*/ 1152 w 1381"/>
                <a:gd name="T9" fmla="*/ 1152 h 1381"/>
                <a:gd name="T10" fmla="*/ 1243 w 1381"/>
                <a:gd name="T11" fmla="*/ 1231 h 1381"/>
                <a:gd name="T12" fmla="*/ 1231 w 1381"/>
                <a:gd name="T13" fmla="*/ 1242 h 1381"/>
                <a:gd name="T14" fmla="*/ 1016 w 1381"/>
                <a:gd name="T15" fmla="*/ 1027 h 1381"/>
                <a:gd name="T16" fmla="*/ 1028 w 1381"/>
                <a:gd name="T17" fmla="*/ 1016 h 1381"/>
                <a:gd name="T18" fmla="*/ 1107 w 1381"/>
                <a:gd name="T19" fmla="*/ 1106 h 1381"/>
                <a:gd name="T20" fmla="*/ 960 w 1381"/>
                <a:gd name="T21" fmla="*/ 971 h 1381"/>
                <a:gd name="T22" fmla="*/ 880 w 1381"/>
                <a:gd name="T23" fmla="*/ 880 h 1381"/>
                <a:gd name="T24" fmla="*/ 971 w 1381"/>
                <a:gd name="T25" fmla="*/ 959 h 1381"/>
                <a:gd name="T26" fmla="*/ 960 w 1381"/>
                <a:gd name="T27" fmla="*/ 971 h 1381"/>
                <a:gd name="T28" fmla="*/ 745 w 1381"/>
                <a:gd name="T29" fmla="*/ 756 h 1381"/>
                <a:gd name="T30" fmla="*/ 756 w 1381"/>
                <a:gd name="T31" fmla="*/ 744 h 1381"/>
                <a:gd name="T32" fmla="*/ 835 w 1381"/>
                <a:gd name="T33" fmla="*/ 835 h 1381"/>
                <a:gd name="T34" fmla="*/ 688 w 1381"/>
                <a:gd name="T35" fmla="*/ 699 h 1381"/>
                <a:gd name="T36" fmla="*/ 609 w 1381"/>
                <a:gd name="T37" fmla="*/ 609 h 1381"/>
                <a:gd name="T38" fmla="*/ 699 w 1381"/>
                <a:gd name="T39" fmla="*/ 688 h 1381"/>
                <a:gd name="T40" fmla="*/ 688 w 1381"/>
                <a:gd name="T41" fmla="*/ 699 h 1381"/>
                <a:gd name="T42" fmla="*/ 473 w 1381"/>
                <a:gd name="T43" fmla="*/ 484 h 1381"/>
                <a:gd name="T44" fmla="*/ 484 w 1381"/>
                <a:gd name="T45" fmla="*/ 473 h 1381"/>
                <a:gd name="T46" fmla="*/ 564 w 1381"/>
                <a:gd name="T47" fmla="*/ 563 h 1381"/>
                <a:gd name="T48" fmla="*/ 417 w 1381"/>
                <a:gd name="T49" fmla="*/ 428 h 1381"/>
                <a:gd name="T50" fmla="*/ 337 w 1381"/>
                <a:gd name="T51" fmla="*/ 337 h 1381"/>
                <a:gd name="T52" fmla="*/ 428 w 1381"/>
                <a:gd name="T53" fmla="*/ 416 h 1381"/>
                <a:gd name="T54" fmla="*/ 417 w 1381"/>
                <a:gd name="T55" fmla="*/ 428 h 1381"/>
                <a:gd name="T56" fmla="*/ 202 w 1381"/>
                <a:gd name="T57" fmla="*/ 213 h 1381"/>
                <a:gd name="T58" fmla="*/ 213 w 1381"/>
                <a:gd name="T59" fmla="*/ 201 h 1381"/>
                <a:gd name="T60" fmla="*/ 292 w 1381"/>
                <a:gd name="T61" fmla="*/ 292 h 1381"/>
                <a:gd name="T62" fmla="*/ 145 w 1381"/>
                <a:gd name="T63" fmla="*/ 156 h 1381"/>
                <a:gd name="T64" fmla="*/ 66 w 1381"/>
                <a:gd name="T65" fmla="*/ 66 h 1381"/>
                <a:gd name="T66" fmla="*/ 156 w 1381"/>
                <a:gd name="T67" fmla="*/ 145 h 1381"/>
                <a:gd name="T68" fmla="*/ 145 w 1381"/>
                <a:gd name="T69" fmla="*/ 156 h 1381"/>
                <a:gd name="T70" fmla="*/ 3 w 1381"/>
                <a:gd name="T71" fmla="*/ 14 h 1381"/>
                <a:gd name="T72" fmla="*/ 14 w 1381"/>
                <a:gd name="T73" fmla="*/ 3 h 1381"/>
                <a:gd name="T74" fmla="*/ 21 w 1381"/>
                <a:gd name="T75" fmla="*/ 20 h 1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81" h="1381">
                  <a:moveTo>
                    <a:pt x="1367" y="1378"/>
                  </a:moveTo>
                  <a:lnTo>
                    <a:pt x="1288" y="1299"/>
                  </a:lnTo>
                  <a:cubicBezTo>
                    <a:pt x="1285" y="1296"/>
                    <a:pt x="1285" y="1291"/>
                    <a:pt x="1288" y="1287"/>
                  </a:cubicBezTo>
                  <a:cubicBezTo>
                    <a:pt x="1291" y="1284"/>
                    <a:pt x="1296" y="1284"/>
                    <a:pt x="1299" y="1287"/>
                  </a:cubicBezTo>
                  <a:lnTo>
                    <a:pt x="1378" y="1367"/>
                  </a:lnTo>
                  <a:cubicBezTo>
                    <a:pt x="1381" y="1370"/>
                    <a:pt x="1381" y="1375"/>
                    <a:pt x="1378" y="1378"/>
                  </a:cubicBezTo>
                  <a:cubicBezTo>
                    <a:pt x="1375" y="1381"/>
                    <a:pt x="1370" y="1381"/>
                    <a:pt x="1367" y="1378"/>
                  </a:cubicBezTo>
                  <a:close/>
                  <a:moveTo>
                    <a:pt x="1231" y="1242"/>
                  </a:moveTo>
                  <a:lnTo>
                    <a:pt x="1152" y="1163"/>
                  </a:lnTo>
                  <a:cubicBezTo>
                    <a:pt x="1149" y="1160"/>
                    <a:pt x="1149" y="1155"/>
                    <a:pt x="1152" y="1152"/>
                  </a:cubicBezTo>
                  <a:cubicBezTo>
                    <a:pt x="1155" y="1149"/>
                    <a:pt x="1160" y="1149"/>
                    <a:pt x="1163" y="1152"/>
                  </a:cubicBezTo>
                  <a:lnTo>
                    <a:pt x="1243" y="1231"/>
                  </a:lnTo>
                  <a:cubicBezTo>
                    <a:pt x="1246" y="1234"/>
                    <a:pt x="1246" y="1239"/>
                    <a:pt x="1243" y="1242"/>
                  </a:cubicBezTo>
                  <a:cubicBezTo>
                    <a:pt x="1239" y="1245"/>
                    <a:pt x="1234" y="1245"/>
                    <a:pt x="1231" y="1242"/>
                  </a:cubicBezTo>
                  <a:close/>
                  <a:moveTo>
                    <a:pt x="1095" y="1106"/>
                  </a:moveTo>
                  <a:lnTo>
                    <a:pt x="1016" y="1027"/>
                  </a:lnTo>
                  <a:cubicBezTo>
                    <a:pt x="1013" y="1024"/>
                    <a:pt x="1013" y="1019"/>
                    <a:pt x="1016" y="1016"/>
                  </a:cubicBezTo>
                  <a:cubicBezTo>
                    <a:pt x="1019" y="1013"/>
                    <a:pt x="1024" y="1013"/>
                    <a:pt x="1028" y="1016"/>
                  </a:cubicBezTo>
                  <a:lnTo>
                    <a:pt x="1107" y="1095"/>
                  </a:lnTo>
                  <a:cubicBezTo>
                    <a:pt x="1110" y="1098"/>
                    <a:pt x="1110" y="1103"/>
                    <a:pt x="1107" y="1106"/>
                  </a:cubicBezTo>
                  <a:cubicBezTo>
                    <a:pt x="1104" y="1110"/>
                    <a:pt x="1099" y="1110"/>
                    <a:pt x="1095" y="1106"/>
                  </a:cubicBezTo>
                  <a:close/>
                  <a:moveTo>
                    <a:pt x="960" y="971"/>
                  </a:moveTo>
                  <a:lnTo>
                    <a:pt x="880" y="891"/>
                  </a:lnTo>
                  <a:cubicBezTo>
                    <a:pt x="877" y="888"/>
                    <a:pt x="877" y="883"/>
                    <a:pt x="880" y="880"/>
                  </a:cubicBezTo>
                  <a:cubicBezTo>
                    <a:pt x="884" y="877"/>
                    <a:pt x="889" y="877"/>
                    <a:pt x="892" y="880"/>
                  </a:cubicBezTo>
                  <a:lnTo>
                    <a:pt x="971" y="959"/>
                  </a:lnTo>
                  <a:cubicBezTo>
                    <a:pt x="974" y="963"/>
                    <a:pt x="974" y="968"/>
                    <a:pt x="971" y="971"/>
                  </a:cubicBezTo>
                  <a:cubicBezTo>
                    <a:pt x="968" y="974"/>
                    <a:pt x="963" y="974"/>
                    <a:pt x="960" y="971"/>
                  </a:cubicBezTo>
                  <a:close/>
                  <a:moveTo>
                    <a:pt x="824" y="835"/>
                  </a:moveTo>
                  <a:lnTo>
                    <a:pt x="745" y="756"/>
                  </a:lnTo>
                  <a:cubicBezTo>
                    <a:pt x="742" y="753"/>
                    <a:pt x="742" y="748"/>
                    <a:pt x="745" y="744"/>
                  </a:cubicBezTo>
                  <a:cubicBezTo>
                    <a:pt x="748" y="741"/>
                    <a:pt x="753" y="741"/>
                    <a:pt x="756" y="744"/>
                  </a:cubicBezTo>
                  <a:lnTo>
                    <a:pt x="835" y="824"/>
                  </a:lnTo>
                  <a:cubicBezTo>
                    <a:pt x="838" y="827"/>
                    <a:pt x="838" y="832"/>
                    <a:pt x="835" y="835"/>
                  </a:cubicBezTo>
                  <a:cubicBezTo>
                    <a:pt x="832" y="838"/>
                    <a:pt x="827" y="838"/>
                    <a:pt x="824" y="835"/>
                  </a:cubicBezTo>
                  <a:close/>
                  <a:moveTo>
                    <a:pt x="688" y="699"/>
                  </a:moveTo>
                  <a:lnTo>
                    <a:pt x="609" y="620"/>
                  </a:lnTo>
                  <a:cubicBezTo>
                    <a:pt x="606" y="617"/>
                    <a:pt x="606" y="612"/>
                    <a:pt x="609" y="609"/>
                  </a:cubicBezTo>
                  <a:cubicBezTo>
                    <a:pt x="612" y="606"/>
                    <a:pt x="617" y="606"/>
                    <a:pt x="620" y="609"/>
                  </a:cubicBezTo>
                  <a:lnTo>
                    <a:pt x="699" y="688"/>
                  </a:lnTo>
                  <a:cubicBezTo>
                    <a:pt x="703" y="691"/>
                    <a:pt x="703" y="696"/>
                    <a:pt x="699" y="699"/>
                  </a:cubicBezTo>
                  <a:cubicBezTo>
                    <a:pt x="696" y="702"/>
                    <a:pt x="691" y="702"/>
                    <a:pt x="688" y="699"/>
                  </a:cubicBezTo>
                  <a:close/>
                  <a:moveTo>
                    <a:pt x="552" y="563"/>
                  </a:moveTo>
                  <a:lnTo>
                    <a:pt x="473" y="484"/>
                  </a:lnTo>
                  <a:cubicBezTo>
                    <a:pt x="470" y="481"/>
                    <a:pt x="470" y="476"/>
                    <a:pt x="473" y="473"/>
                  </a:cubicBezTo>
                  <a:cubicBezTo>
                    <a:pt x="476" y="470"/>
                    <a:pt x="481" y="470"/>
                    <a:pt x="484" y="473"/>
                  </a:cubicBezTo>
                  <a:lnTo>
                    <a:pt x="564" y="552"/>
                  </a:lnTo>
                  <a:cubicBezTo>
                    <a:pt x="567" y="555"/>
                    <a:pt x="567" y="560"/>
                    <a:pt x="564" y="563"/>
                  </a:cubicBezTo>
                  <a:cubicBezTo>
                    <a:pt x="561" y="567"/>
                    <a:pt x="555" y="567"/>
                    <a:pt x="552" y="563"/>
                  </a:cubicBezTo>
                  <a:close/>
                  <a:moveTo>
                    <a:pt x="417" y="428"/>
                  </a:moveTo>
                  <a:lnTo>
                    <a:pt x="337" y="348"/>
                  </a:lnTo>
                  <a:cubicBezTo>
                    <a:pt x="334" y="345"/>
                    <a:pt x="334" y="340"/>
                    <a:pt x="337" y="337"/>
                  </a:cubicBezTo>
                  <a:cubicBezTo>
                    <a:pt x="341" y="334"/>
                    <a:pt x="346" y="334"/>
                    <a:pt x="349" y="337"/>
                  </a:cubicBezTo>
                  <a:lnTo>
                    <a:pt x="428" y="416"/>
                  </a:lnTo>
                  <a:cubicBezTo>
                    <a:pt x="431" y="419"/>
                    <a:pt x="431" y="425"/>
                    <a:pt x="428" y="428"/>
                  </a:cubicBezTo>
                  <a:cubicBezTo>
                    <a:pt x="425" y="431"/>
                    <a:pt x="420" y="431"/>
                    <a:pt x="417" y="428"/>
                  </a:cubicBezTo>
                  <a:close/>
                  <a:moveTo>
                    <a:pt x="281" y="292"/>
                  </a:moveTo>
                  <a:lnTo>
                    <a:pt x="202" y="213"/>
                  </a:lnTo>
                  <a:cubicBezTo>
                    <a:pt x="199" y="210"/>
                    <a:pt x="199" y="204"/>
                    <a:pt x="202" y="201"/>
                  </a:cubicBezTo>
                  <a:cubicBezTo>
                    <a:pt x="205" y="198"/>
                    <a:pt x="210" y="198"/>
                    <a:pt x="213" y="201"/>
                  </a:cubicBezTo>
                  <a:lnTo>
                    <a:pt x="292" y="281"/>
                  </a:lnTo>
                  <a:cubicBezTo>
                    <a:pt x="295" y="284"/>
                    <a:pt x="295" y="289"/>
                    <a:pt x="292" y="292"/>
                  </a:cubicBezTo>
                  <a:cubicBezTo>
                    <a:pt x="289" y="295"/>
                    <a:pt x="284" y="295"/>
                    <a:pt x="281" y="292"/>
                  </a:cubicBezTo>
                  <a:close/>
                  <a:moveTo>
                    <a:pt x="145" y="156"/>
                  </a:moveTo>
                  <a:lnTo>
                    <a:pt x="66" y="77"/>
                  </a:lnTo>
                  <a:cubicBezTo>
                    <a:pt x="63" y="74"/>
                    <a:pt x="63" y="69"/>
                    <a:pt x="66" y="66"/>
                  </a:cubicBezTo>
                  <a:cubicBezTo>
                    <a:pt x="69" y="62"/>
                    <a:pt x="74" y="62"/>
                    <a:pt x="77" y="66"/>
                  </a:cubicBezTo>
                  <a:lnTo>
                    <a:pt x="156" y="145"/>
                  </a:lnTo>
                  <a:cubicBezTo>
                    <a:pt x="160" y="148"/>
                    <a:pt x="160" y="153"/>
                    <a:pt x="156" y="156"/>
                  </a:cubicBezTo>
                  <a:cubicBezTo>
                    <a:pt x="153" y="159"/>
                    <a:pt x="148" y="159"/>
                    <a:pt x="145" y="156"/>
                  </a:cubicBezTo>
                  <a:close/>
                  <a:moveTo>
                    <a:pt x="9" y="20"/>
                  </a:moveTo>
                  <a:lnTo>
                    <a:pt x="3" y="14"/>
                  </a:lnTo>
                  <a:cubicBezTo>
                    <a:pt x="0" y="11"/>
                    <a:pt x="0" y="6"/>
                    <a:pt x="3" y="3"/>
                  </a:cubicBezTo>
                  <a:cubicBezTo>
                    <a:pt x="6" y="0"/>
                    <a:pt x="11" y="0"/>
                    <a:pt x="14" y="3"/>
                  </a:cubicBezTo>
                  <a:lnTo>
                    <a:pt x="21" y="9"/>
                  </a:lnTo>
                  <a:cubicBezTo>
                    <a:pt x="24" y="12"/>
                    <a:pt x="24" y="17"/>
                    <a:pt x="21" y="20"/>
                  </a:cubicBezTo>
                  <a:cubicBezTo>
                    <a:pt x="18" y="23"/>
                    <a:pt x="12" y="23"/>
                    <a:pt x="9" y="20"/>
                  </a:cubicBezTo>
                  <a:close/>
                </a:path>
              </a:pathLst>
            </a:custGeom>
            <a:solidFill>
              <a:srgbClr val="000000"/>
            </a:solidFill>
            <a:ln w="7938" cap="flat">
              <a:solidFill>
                <a:srgbClr val="000000"/>
              </a:solidFill>
              <a:prstDash val="solid"/>
              <a:bevel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31"/>
            <p:cNvSpPr>
              <a:spLocks/>
            </p:cNvSpPr>
            <p:nvPr/>
          </p:nvSpPr>
          <p:spPr bwMode="auto">
            <a:xfrm>
              <a:off x="2066" y="1843"/>
              <a:ext cx="62" cy="62"/>
            </a:xfrm>
            <a:custGeom>
              <a:avLst/>
              <a:gdLst>
                <a:gd name="T0" fmla="*/ 62 w 62"/>
                <a:gd name="T1" fmla="*/ 31 h 62"/>
                <a:gd name="T2" fmla="*/ 0 w 62"/>
                <a:gd name="T3" fmla="*/ 0 h 62"/>
                <a:gd name="T4" fmla="*/ 31 w 62"/>
                <a:gd name="T5" fmla="*/ 62 h 62"/>
                <a:gd name="T6" fmla="*/ 62 w 62"/>
                <a:gd name="T7" fmla="*/ 31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2" h="62">
                  <a:moveTo>
                    <a:pt x="62" y="31"/>
                  </a:moveTo>
                  <a:lnTo>
                    <a:pt x="0" y="0"/>
                  </a:lnTo>
                  <a:lnTo>
                    <a:pt x="31" y="62"/>
                  </a:lnTo>
                  <a:lnTo>
                    <a:pt x="62" y="31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72703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SE Lesson X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ASE Lesson X</Template>
  <TotalTime>858</TotalTime>
  <Words>1345</Words>
  <Application>Microsoft Office PowerPoint</Application>
  <PresentationFormat>On-screen Show (4:3)</PresentationFormat>
  <Paragraphs>286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AU Passata</vt:lpstr>
      <vt:lpstr>Calibri</vt:lpstr>
      <vt:lpstr>Consolas</vt:lpstr>
      <vt:lpstr>ASE Lesson X</vt:lpstr>
      <vt:lpstr>Interfaces In C++ and C#</vt:lpstr>
      <vt:lpstr>Tags</vt:lpstr>
      <vt:lpstr>Primitive example in C++</vt:lpstr>
      <vt:lpstr>Polymorphy should be used</vt:lpstr>
      <vt:lpstr>Interfaces – what’s the fuss?</vt:lpstr>
      <vt:lpstr>Interfaces to the rescue!</vt:lpstr>
      <vt:lpstr>Interfaces in a nutshell</vt:lpstr>
      <vt:lpstr>What is an interface?</vt:lpstr>
      <vt:lpstr>Interfaces in C++ vs. C#</vt:lpstr>
      <vt:lpstr>Interfaces in C# - definition</vt:lpstr>
      <vt:lpstr>Interfaces in C# -  Definition and implementation</vt:lpstr>
      <vt:lpstr>Interfaces in C# -  Reference and use</vt:lpstr>
      <vt:lpstr>Some properties of C# interfaces</vt:lpstr>
      <vt:lpstr>Interfaces in UML</vt:lpstr>
    </vt:vector>
  </TitlesOfParts>
  <Company>IHA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Variable og funktioner</dc:title>
  <dc:creator>Steen Krøyer</dc:creator>
  <cp:lastModifiedBy>Frank Bodholdt Jakobsen</cp:lastModifiedBy>
  <cp:revision>88</cp:revision>
  <cp:lastPrinted>2013-02-08T07:05:33Z</cp:lastPrinted>
  <dcterms:created xsi:type="dcterms:W3CDTF">2012-01-25T12:54:49Z</dcterms:created>
  <dcterms:modified xsi:type="dcterms:W3CDTF">2020-02-07T10:48:40Z</dcterms:modified>
</cp:coreProperties>
</file>